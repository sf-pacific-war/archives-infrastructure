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61bbc556e4471" /><Relationship Type="http://schemas.openxmlformats.org/officeDocument/2006/relationships/extended-properties" Target="/docProps/app.xml" Id="R8ec85b3b0c08436f" /><Relationship Type="http://schemas.openxmlformats.org/officeDocument/2006/relationships/officeDocument" Target="/ppt/presentation.xml" Id="Rbb2ee1a90870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2d9b178d44fdb"/>
  </p:sldMasterIdLst>
  <p:notesMasterIdLst>
    <p:notesMasterId xmlns:r="http://schemas.openxmlformats.org/officeDocument/2006/relationships" r:id="R31a85351f1684088"/>
  </p:notesMasterIdLst>
  <p:sldIdLst>
    <p:sldId xmlns:r="http://schemas.openxmlformats.org/officeDocument/2006/relationships" id="256" r:id="R5e6ae3138a474eb9"/>
    <p:sldId xmlns:r="http://schemas.openxmlformats.org/officeDocument/2006/relationships" id="257" r:id="R2a25ccc336af4449"/>
    <p:sldId xmlns:r="http://schemas.openxmlformats.org/officeDocument/2006/relationships" id="258" r:id="Rcdafe4bcfdc144f5"/>
    <p:sldId xmlns:r="http://schemas.openxmlformats.org/officeDocument/2006/relationships" id="259" r:id="R7c7ed98fcdb6457d"/>
    <p:sldId xmlns:r="http://schemas.openxmlformats.org/officeDocument/2006/relationships" id="260" r:id="Rc5a30c1b2562491b"/>
    <p:sldId xmlns:r="http://schemas.openxmlformats.org/officeDocument/2006/relationships" id="261" r:id="R05a0b5d2356e4c6e"/>
    <p:sldId xmlns:r="http://schemas.openxmlformats.org/officeDocument/2006/relationships" id="262" r:id="Rf4298cee816a4aea"/>
    <p:sldId xmlns:r="http://schemas.openxmlformats.org/officeDocument/2006/relationships" id="263" r:id="R0fce0c63c0444f74"/>
    <p:sldId xmlns:r="http://schemas.openxmlformats.org/officeDocument/2006/relationships" id="264" r:id="R91e2f8b664a54885"/>
    <p:sldId xmlns:r="http://schemas.openxmlformats.org/officeDocument/2006/relationships" id="265" r:id="R6a5c09c389f14146"/>
    <p:sldId xmlns:r="http://schemas.openxmlformats.org/officeDocument/2006/relationships" id="266" r:id="R9c21bc4b9fde492b"/>
    <p:sldId xmlns:r="http://schemas.openxmlformats.org/officeDocument/2006/relationships" id="267" r:id="R5851753a741743e7"/>
    <p:sldId xmlns:r="http://schemas.openxmlformats.org/officeDocument/2006/relationships" id="268" r:id="Rb33a9a2c020b47bf"/>
    <p:sldId xmlns:r="http://schemas.openxmlformats.org/officeDocument/2006/relationships" id="269" r:id="Rc672dc77fccf4f14"/>
    <p:sldId xmlns:r="http://schemas.openxmlformats.org/officeDocument/2006/relationships" id="270" r:id="R9d4d3f5bde5c42a2"/>
    <p:sldId xmlns:r="http://schemas.openxmlformats.org/officeDocument/2006/relationships" id="271" r:id="Rdb268e09444b4f9f"/>
    <p:sldId xmlns:r="http://schemas.openxmlformats.org/officeDocument/2006/relationships" id="272" r:id="Rc40f723e3f9443f9"/>
    <p:sldId xmlns:r="http://schemas.openxmlformats.org/officeDocument/2006/relationships" id="273" r:id="Rc032c7d23564438f"/>
    <p:sldId xmlns:r="http://schemas.openxmlformats.org/officeDocument/2006/relationships" id="274" r:id="R167d413856b94dbd"/>
    <p:sldId xmlns:r="http://schemas.openxmlformats.org/officeDocument/2006/relationships" id="275" r:id="Ra973ab1875f24e7f"/>
    <p:sldId xmlns:r="http://schemas.openxmlformats.org/officeDocument/2006/relationships" id="276" r:id="R25b54fd51d384d6a"/>
    <p:sldId xmlns:r="http://schemas.openxmlformats.org/officeDocument/2006/relationships" id="277" r:id="Rad54aba8bbc84a20"/>
    <p:sldId xmlns:r="http://schemas.openxmlformats.org/officeDocument/2006/relationships" id="278" r:id="Rf90c36b090664808"/>
    <p:sldId xmlns:r="http://schemas.openxmlformats.org/officeDocument/2006/relationships" id="279" r:id="Rfdcfbbd83676480b"/>
    <p:sldId xmlns:r="http://schemas.openxmlformats.org/officeDocument/2006/relationships" id="280" r:id="R80c7a26df80c43d8"/>
    <p:sldId xmlns:r="http://schemas.openxmlformats.org/officeDocument/2006/relationships" id="281" r:id="Re615d00d25604623"/>
    <p:sldId xmlns:r="http://schemas.openxmlformats.org/officeDocument/2006/relationships" id="282" r:id="Rbc0d1441573e4cf9"/>
    <p:sldId xmlns:r="http://schemas.openxmlformats.org/officeDocument/2006/relationships" id="283" r:id="R3e055a75ec8442be"/>
    <p:sldId xmlns:r="http://schemas.openxmlformats.org/officeDocument/2006/relationships" id="284" r:id="Rd1af9a5e087b4691"/>
    <p:sldId xmlns:r="http://schemas.openxmlformats.org/officeDocument/2006/relationships" id="285" r:id="Raf9a1f5562284500"/>
    <p:sldId xmlns:r="http://schemas.openxmlformats.org/officeDocument/2006/relationships" id="286" r:id="R71ed06f626164d58"/>
    <p:sldId xmlns:r="http://schemas.openxmlformats.org/officeDocument/2006/relationships" id="287" r:id="R5da4e60fc78d4c05"/>
    <p:sldId xmlns:r="http://schemas.openxmlformats.org/officeDocument/2006/relationships" id="288" r:id="R614801b1fdaf4af5"/>
    <p:sldId xmlns:r="http://schemas.openxmlformats.org/officeDocument/2006/relationships" id="289" r:id="Rf07a4b23c90b4d07"/>
    <p:sldId xmlns:r="http://schemas.openxmlformats.org/officeDocument/2006/relationships" id="290" r:id="R54075948b18b47f3"/>
    <p:sldId xmlns:r="http://schemas.openxmlformats.org/officeDocument/2006/relationships" id="291" r:id="R4f5d658c9f574f5f"/>
    <p:sldId xmlns:r="http://schemas.openxmlformats.org/officeDocument/2006/relationships" id="292" r:id="R6fa358a00ab847a7"/>
    <p:sldId xmlns:r="http://schemas.openxmlformats.org/officeDocument/2006/relationships" id="293" r:id="R2899c03b9f994f75"/>
    <p:sldId xmlns:r="http://schemas.openxmlformats.org/officeDocument/2006/relationships" id="294" r:id="R51f1c5fd50a747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96e43164a4746" /><Relationship Type="http://schemas.openxmlformats.org/officeDocument/2006/relationships/slideMaster" Target="/ppt/slideMasters/slideMaster1.xml" Id="R3142d9b178d44fdb" /><Relationship Type="http://schemas.openxmlformats.org/officeDocument/2006/relationships/notesMaster" Target="/ppt/notesMasters/notesMaster1.xml" Id="R31a85351f1684088" /><Relationship Type="http://schemas.openxmlformats.org/officeDocument/2006/relationships/presProps" Target="/ppt/presProps.xml" Id="R9f47d83b39dd4484" /><Relationship Type="http://schemas.openxmlformats.org/officeDocument/2006/relationships/tableStyles" Target="/ppt/tableStyles.xml" Id="Rf533950db25e4164" /><Relationship Type="http://schemas.openxmlformats.org/officeDocument/2006/relationships/slide" Target="/ppt/slides/slide1.xml" Id="R5e6ae3138a474eb9" /><Relationship Type="http://schemas.openxmlformats.org/officeDocument/2006/relationships/slide" Target="/ppt/slides/slide2.xml" Id="R2a25ccc336af4449" /><Relationship Type="http://schemas.openxmlformats.org/officeDocument/2006/relationships/slide" Target="/ppt/slides/slide3.xml" Id="Rcdafe4bcfdc144f5" /><Relationship Type="http://schemas.openxmlformats.org/officeDocument/2006/relationships/slide" Target="/ppt/slides/slide4.xml" Id="R7c7ed98fcdb6457d" /><Relationship Type="http://schemas.openxmlformats.org/officeDocument/2006/relationships/slide" Target="/ppt/slides/slide5.xml" Id="Rc5a30c1b2562491b" /><Relationship Type="http://schemas.openxmlformats.org/officeDocument/2006/relationships/slide" Target="/ppt/slides/slide6.xml" Id="R05a0b5d2356e4c6e" /><Relationship Type="http://schemas.openxmlformats.org/officeDocument/2006/relationships/slide" Target="/ppt/slides/slide7.xml" Id="Rf4298cee816a4aea" /><Relationship Type="http://schemas.openxmlformats.org/officeDocument/2006/relationships/slide" Target="/ppt/slides/slide8.xml" Id="R0fce0c63c0444f74" /><Relationship Type="http://schemas.openxmlformats.org/officeDocument/2006/relationships/slide" Target="/ppt/slides/slide9.xml" Id="R91e2f8b664a54885" /><Relationship Type="http://schemas.openxmlformats.org/officeDocument/2006/relationships/slide" Target="/ppt/slides/slide10.xml" Id="R6a5c09c389f14146" /><Relationship Type="http://schemas.openxmlformats.org/officeDocument/2006/relationships/slide" Target="/ppt/slides/slide11.xml" Id="R9c21bc4b9fde492b" /><Relationship Type="http://schemas.openxmlformats.org/officeDocument/2006/relationships/slide" Target="/ppt/slides/slide12.xml" Id="R5851753a741743e7" /><Relationship Type="http://schemas.openxmlformats.org/officeDocument/2006/relationships/slide" Target="/ppt/slides/slide13.xml" Id="Rb33a9a2c020b47bf" /><Relationship Type="http://schemas.openxmlformats.org/officeDocument/2006/relationships/slide" Target="/ppt/slides/slide14.xml" Id="Rc672dc77fccf4f14" /><Relationship Type="http://schemas.openxmlformats.org/officeDocument/2006/relationships/slide" Target="/ppt/slides/slide15.xml" Id="R9d4d3f5bde5c42a2" /><Relationship Type="http://schemas.openxmlformats.org/officeDocument/2006/relationships/slide" Target="/ppt/slides/slide16.xml" Id="Rdb268e09444b4f9f" /><Relationship Type="http://schemas.openxmlformats.org/officeDocument/2006/relationships/slide" Target="/ppt/slides/slide17.xml" Id="Rc40f723e3f9443f9" /><Relationship Type="http://schemas.openxmlformats.org/officeDocument/2006/relationships/slide" Target="/ppt/slides/slide18.xml" Id="Rc032c7d23564438f" /><Relationship Type="http://schemas.openxmlformats.org/officeDocument/2006/relationships/slide" Target="/ppt/slides/slide19.xml" Id="R167d413856b94dbd" /><Relationship Type="http://schemas.openxmlformats.org/officeDocument/2006/relationships/slide" Target="/ppt/slides/slide20.xml" Id="Ra973ab1875f24e7f" /><Relationship Type="http://schemas.openxmlformats.org/officeDocument/2006/relationships/slide" Target="/ppt/slides/slide21.xml" Id="R25b54fd51d384d6a" /><Relationship Type="http://schemas.openxmlformats.org/officeDocument/2006/relationships/slide" Target="/ppt/slides/slide22.xml" Id="Rad54aba8bbc84a20" /><Relationship Type="http://schemas.openxmlformats.org/officeDocument/2006/relationships/slide" Target="/ppt/slides/slide23.xml" Id="Rf90c36b090664808" /><Relationship Type="http://schemas.openxmlformats.org/officeDocument/2006/relationships/slide" Target="/ppt/slides/slide24.xml" Id="Rfdcfbbd83676480b" /><Relationship Type="http://schemas.openxmlformats.org/officeDocument/2006/relationships/slide" Target="/ppt/slides/slide25.xml" Id="R80c7a26df80c43d8" /><Relationship Type="http://schemas.openxmlformats.org/officeDocument/2006/relationships/slide" Target="/ppt/slides/slide26.xml" Id="Re615d00d25604623" /><Relationship Type="http://schemas.openxmlformats.org/officeDocument/2006/relationships/slide" Target="/ppt/slides/slide27.xml" Id="Rbc0d1441573e4cf9" /><Relationship Type="http://schemas.openxmlformats.org/officeDocument/2006/relationships/slide" Target="/ppt/slides/slide28.xml" Id="R3e055a75ec8442be" /><Relationship Type="http://schemas.openxmlformats.org/officeDocument/2006/relationships/slide" Target="/ppt/slides/slide29.xml" Id="Rd1af9a5e087b4691" /><Relationship Type="http://schemas.openxmlformats.org/officeDocument/2006/relationships/slide" Target="/ppt/slides/slide30.xml" Id="Raf9a1f5562284500" /><Relationship Type="http://schemas.openxmlformats.org/officeDocument/2006/relationships/slide" Target="/ppt/slides/slide31.xml" Id="R71ed06f626164d58" /><Relationship Type="http://schemas.openxmlformats.org/officeDocument/2006/relationships/slide" Target="/ppt/slides/slide32.xml" Id="R5da4e60fc78d4c05" /><Relationship Type="http://schemas.openxmlformats.org/officeDocument/2006/relationships/slide" Target="/ppt/slides/slide33.xml" Id="R614801b1fdaf4af5" /><Relationship Type="http://schemas.openxmlformats.org/officeDocument/2006/relationships/slide" Target="/ppt/slides/slide34.xml" Id="Rf07a4b23c90b4d07" /><Relationship Type="http://schemas.openxmlformats.org/officeDocument/2006/relationships/slide" Target="/ppt/slides/slide35.xml" Id="R54075948b18b47f3" /><Relationship Type="http://schemas.openxmlformats.org/officeDocument/2006/relationships/slide" Target="/ppt/slides/slide36.xml" Id="R4f5d658c9f574f5f" /><Relationship Type="http://schemas.openxmlformats.org/officeDocument/2006/relationships/slide" Target="/ppt/slides/slide37.xml" Id="R6fa358a00ab847a7" /><Relationship Type="http://schemas.openxmlformats.org/officeDocument/2006/relationships/slide" Target="/ppt/slides/slide38.xml" Id="R2899c03b9f994f75" /><Relationship Type="http://schemas.openxmlformats.org/officeDocument/2006/relationships/slide" Target="/ppt/slides/slide39.xml" Id="R51f1c5fd50a7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0eb3ac2b443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c907cebac487b" /><Relationship Type="http://schemas.openxmlformats.org/officeDocument/2006/relationships/notesMaster" Target="/ppt/notesMasters/notesMaster1.xml" Id="Rf75671815b6d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c5d60aa2d4c0b" /><Relationship Type="http://schemas.openxmlformats.org/officeDocument/2006/relationships/notesMaster" Target="/ppt/notesMasters/notesMaster1.xml" Id="R7cb6f328307541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f58f9143448a3" /><Relationship Type="http://schemas.openxmlformats.org/officeDocument/2006/relationships/notesMaster" Target="/ppt/notesMasters/notesMaster1.xml" Id="R79b27d15dfa94f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f1ae36292a45b1" /><Relationship Type="http://schemas.openxmlformats.org/officeDocument/2006/relationships/notesMaster" Target="/ppt/notesMasters/notesMaster1.xml" Id="R7a331bc6039c49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b9122fd614c6c" /><Relationship Type="http://schemas.openxmlformats.org/officeDocument/2006/relationships/notesMaster" Target="/ppt/notesMasters/notesMaster1.xml" Id="Rc0cc24354eaa45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58b78551a4826" /><Relationship Type="http://schemas.openxmlformats.org/officeDocument/2006/relationships/notesMaster" Target="/ppt/notesMasters/notesMaster1.xml" Id="Rd938f300dd7e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ead9f0414427d" /><Relationship Type="http://schemas.openxmlformats.org/officeDocument/2006/relationships/notesMaster" Target="/ppt/notesMasters/notesMaster1.xml" Id="Rd842286e5927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c36edfa6e4431" /><Relationship Type="http://schemas.openxmlformats.org/officeDocument/2006/relationships/notesMaster" Target="/ppt/notesMasters/notesMaster1.xml" Id="R23c79d9c01dd4e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ef47fabe684aca" /><Relationship Type="http://schemas.openxmlformats.org/officeDocument/2006/relationships/notesMaster" Target="/ppt/notesMasters/notesMaster1.xml" Id="R470cd77939dc40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9589ae8e124c7f" /><Relationship Type="http://schemas.openxmlformats.org/officeDocument/2006/relationships/notesMaster" Target="/ppt/notesMasters/notesMaster1.xml" Id="R5db8c81e77b843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5d4a5562bb4758" /><Relationship Type="http://schemas.openxmlformats.org/officeDocument/2006/relationships/notesMaster" Target="/ppt/notesMasters/notesMaster1.xml" Id="R345a3648cf0944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b8726bb69842b1" /><Relationship Type="http://schemas.openxmlformats.org/officeDocument/2006/relationships/notesMaster" Target="/ppt/notesMasters/notesMaster1.xml" Id="R15e5a18488e44f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5918606af34987" /><Relationship Type="http://schemas.openxmlformats.org/officeDocument/2006/relationships/notesMaster" Target="/ppt/notesMasters/notesMaster1.xml" Id="R44690b2178c447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d4cd96dea44c0" /><Relationship Type="http://schemas.openxmlformats.org/officeDocument/2006/relationships/notesMaster" Target="/ppt/notesMasters/notesMaster1.xml" Id="R516df834f85e4b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fc0415787147e8" /><Relationship Type="http://schemas.openxmlformats.org/officeDocument/2006/relationships/notesMaster" Target="/ppt/notesMasters/notesMaster1.xml" Id="R0b16a76ba79846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122b2b3aef4f21" /><Relationship Type="http://schemas.openxmlformats.org/officeDocument/2006/relationships/notesMaster" Target="/ppt/notesMasters/notesMaster1.xml" Id="Rd4d68734c98c43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ded63e02bd401e" /><Relationship Type="http://schemas.openxmlformats.org/officeDocument/2006/relationships/notesMaster" Target="/ppt/notesMasters/notesMaster1.xml" Id="R2275747a56da49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dfb60e67d94d1b" /><Relationship Type="http://schemas.openxmlformats.org/officeDocument/2006/relationships/notesMaster" Target="/ppt/notesMasters/notesMaster1.xml" Id="Rcdc55afc0dfa44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1834c0c42249f4" /><Relationship Type="http://schemas.openxmlformats.org/officeDocument/2006/relationships/notesMaster" Target="/ppt/notesMasters/notesMaster1.xml" Id="R278710c5d7714c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cac33f9e5a43ab" /><Relationship Type="http://schemas.openxmlformats.org/officeDocument/2006/relationships/notesMaster" Target="/ppt/notesMasters/notesMaster1.xml" Id="R55f54520c61f411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5d362bc1ea4b6f" /><Relationship Type="http://schemas.openxmlformats.org/officeDocument/2006/relationships/notesMaster" Target="/ppt/notesMasters/notesMaster1.xml" Id="R51f861debb5e4c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bb58892aa940b2" /><Relationship Type="http://schemas.openxmlformats.org/officeDocument/2006/relationships/notesMaster" Target="/ppt/notesMasters/notesMaster1.xml" Id="R822a3c57bed844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581761addd4a04" /><Relationship Type="http://schemas.openxmlformats.org/officeDocument/2006/relationships/notesMaster" Target="/ppt/notesMasters/notesMaster1.xml" Id="Rc148e9ff599349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096c7382534922" /><Relationship Type="http://schemas.openxmlformats.org/officeDocument/2006/relationships/notesMaster" Target="/ppt/notesMasters/notesMaster1.xml" Id="Rf2eafaf45aaa41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d9a2e1354340cd" /><Relationship Type="http://schemas.openxmlformats.org/officeDocument/2006/relationships/notesMaster" Target="/ppt/notesMasters/notesMaster1.xml" Id="R1e3e7e90deaf467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76dca56d224e31" /><Relationship Type="http://schemas.openxmlformats.org/officeDocument/2006/relationships/notesMaster" Target="/ppt/notesMasters/notesMaster1.xml" Id="R439c402dbd7340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bb6c8bef2f7431e" /><Relationship Type="http://schemas.openxmlformats.org/officeDocument/2006/relationships/notesMaster" Target="/ppt/notesMasters/notesMaster1.xml" Id="R2db110c3163d44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ebcccc2df55411f" /><Relationship Type="http://schemas.openxmlformats.org/officeDocument/2006/relationships/notesMaster" Target="/ppt/notesMasters/notesMaster1.xml" Id="Rd0d2a65e72784d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a482188d45643ed" /><Relationship Type="http://schemas.openxmlformats.org/officeDocument/2006/relationships/notesMaster" Target="/ppt/notesMasters/notesMaster1.xml" Id="R627ef3c1a9094e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341102baab4e5b" /><Relationship Type="http://schemas.openxmlformats.org/officeDocument/2006/relationships/notesMaster" Target="/ppt/notesMasters/notesMaster1.xml" Id="R4fd3c4fb4ebd47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49bc410cbcc49ae" /><Relationship Type="http://schemas.openxmlformats.org/officeDocument/2006/relationships/notesMaster" Target="/ppt/notesMasters/notesMaster1.xml" Id="Rc1716776b49b445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cec3107ce94caa" /><Relationship Type="http://schemas.openxmlformats.org/officeDocument/2006/relationships/notesMaster" Target="/ppt/notesMasters/notesMaster1.xml" Id="R78c229d0aecc428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168aa1b99e47d8" /><Relationship Type="http://schemas.openxmlformats.org/officeDocument/2006/relationships/notesMaster" Target="/ppt/notesMasters/notesMaster1.xml" Id="Rdc130601df874c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cbdeedc91f14619" /><Relationship Type="http://schemas.openxmlformats.org/officeDocument/2006/relationships/notesMaster" Target="/ppt/notesMasters/notesMaster1.xml" Id="R5b901d4971e74a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b4f725249b42df" /><Relationship Type="http://schemas.openxmlformats.org/officeDocument/2006/relationships/notesMaster" Target="/ppt/notesMasters/notesMaster1.xml" Id="Rf13e136a7f194b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70b1265eda14da7" /><Relationship Type="http://schemas.openxmlformats.org/officeDocument/2006/relationships/notesMaster" Target="/ppt/notesMasters/notesMaster1.xml" Id="Rf5db90e2014348f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400ff6a4394e34" /><Relationship Type="http://schemas.openxmlformats.org/officeDocument/2006/relationships/notesMaster" Target="/ppt/notesMasters/notesMaster1.xml" Id="R1541f9e6ee14437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9372bdd4fdf454c" /><Relationship Type="http://schemas.openxmlformats.org/officeDocument/2006/relationships/notesMaster" Target="/ppt/notesMasters/notesMaster1.xml" Id="R7579cb0214f54b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2c4760127ba47cd" /><Relationship Type="http://schemas.openxmlformats.org/officeDocument/2006/relationships/notesMaster" Target="/ppt/notesMasters/notesMaster1.xml" Id="Rc1f55c3b13b947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980da53de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6471e36424dbb" /><Relationship Type="http://schemas.openxmlformats.org/officeDocument/2006/relationships/slideLayout" Target="/ppt/slideLayouts/slideLayout1.xml" Id="Refcf9ef26fb6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cf9ef26fb6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a3f549ef42bf" /><Relationship Type="http://schemas.openxmlformats.org/officeDocument/2006/relationships/image" Target="/ppt/media/image.jpeg" Id="Re033aa32df084866" /><Relationship Type="http://schemas.openxmlformats.org/officeDocument/2006/relationships/image" Target="/ppt/media/image2.jpeg" Id="R049301b8c6a746fa" /><Relationship Type="http://schemas.openxmlformats.org/officeDocument/2006/relationships/notesSlide" Target="/ppt/notesSlides/notesSlide1.xml" Id="R1e308091dff648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779f841d54f2a" /><Relationship Type="http://schemas.openxmlformats.org/officeDocument/2006/relationships/notesSlide" Target="/ppt/notesSlides/notesSlide2.xml" Id="R7a9c1fc91fa246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6c121ab44454f" /><Relationship Type="http://schemas.openxmlformats.org/officeDocument/2006/relationships/notesSlide" Target="/ppt/notesSlides/notesSlide3.xml" Id="R09eb43850e714f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87eb65d77453b" /><Relationship Type="http://schemas.openxmlformats.org/officeDocument/2006/relationships/notesSlide" Target="/ppt/notesSlides/notesSlide4.xml" Id="R8fa5eee5799a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f1129e3854b24" /><Relationship Type="http://schemas.openxmlformats.org/officeDocument/2006/relationships/notesSlide" Target="/ppt/notesSlides/notesSlide5.xml" Id="R8d9524d21e3442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3bbc3054d444b" /><Relationship Type="http://schemas.openxmlformats.org/officeDocument/2006/relationships/notesSlide" Target="/ppt/notesSlides/notesSlide6.xml" Id="Rffdc948d76d34b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9f78ca52d4449" /><Relationship Type="http://schemas.openxmlformats.org/officeDocument/2006/relationships/notesSlide" Target="/ppt/notesSlides/notesSlide7.xml" Id="R7a671a78bd984e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a614ea6da4768" /><Relationship Type="http://schemas.openxmlformats.org/officeDocument/2006/relationships/notesSlide" Target="/ppt/notesSlides/notesSlide8.xml" Id="Rea7432b714b045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6a56d41084d87" /><Relationship Type="http://schemas.openxmlformats.org/officeDocument/2006/relationships/notesSlide" Target="/ppt/notesSlides/notesSlide9.xml" Id="Rce34fc924d4b4a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174513ab04bf2" /><Relationship Type="http://schemas.openxmlformats.org/officeDocument/2006/relationships/image" Target="/ppt/media/image3.jpeg" Id="R9441cb145c164934" /><Relationship Type="http://schemas.openxmlformats.org/officeDocument/2006/relationships/notesSlide" Target="/ppt/notesSlides/notesSlide10.xml" Id="R4b9af094b301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b63184f444bd" /><Relationship Type="http://schemas.openxmlformats.org/officeDocument/2006/relationships/image" Target="/ppt/media/image4.jpeg" Id="Rcd3ac26c73204e8e" /><Relationship Type="http://schemas.openxmlformats.org/officeDocument/2006/relationships/notesSlide" Target="/ppt/notesSlides/notesSlide11.xml" Id="R5895e10d2fbc4f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a8938fa324ad0" /><Relationship Type="http://schemas.openxmlformats.org/officeDocument/2006/relationships/image" Target="/ppt/media/image5.jpeg" Id="Ra9c1043a3da04683" /><Relationship Type="http://schemas.openxmlformats.org/officeDocument/2006/relationships/notesSlide" Target="/ppt/notesSlides/notesSlide12.xml" Id="R64a587d5f52c46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1c62f67c4cd2" /><Relationship Type="http://schemas.openxmlformats.org/officeDocument/2006/relationships/image" Target="/ppt/media/image6.jpeg" Id="R7db2c5d2ef4144ba" /><Relationship Type="http://schemas.openxmlformats.org/officeDocument/2006/relationships/notesSlide" Target="/ppt/notesSlides/notesSlide13.xml" Id="Rd4184dab5f2f46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5991136b74918" /><Relationship Type="http://schemas.openxmlformats.org/officeDocument/2006/relationships/image" Target="/ppt/media/image7.jpeg" Id="R3a37ff9e426f4285" /><Relationship Type="http://schemas.openxmlformats.org/officeDocument/2006/relationships/notesSlide" Target="/ppt/notesSlides/notesSlide14.xml" Id="Rbbf4cd39b22d44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7308abad04992" /><Relationship Type="http://schemas.openxmlformats.org/officeDocument/2006/relationships/image" Target="/ppt/media/image8.jpeg" Id="R7342f0754439443c" /><Relationship Type="http://schemas.openxmlformats.org/officeDocument/2006/relationships/notesSlide" Target="/ppt/notesSlides/notesSlide15.xml" Id="Re896ef597d0647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9566a72674b8d" /><Relationship Type="http://schemas.openxmlformats.org/officeDocument/2006/relationships/image" Target="/ppt/media/image9.jpeg" Id="R9d6a5e58e45f45a2" /><Relationship Type="http://schemas.openxmlformats.org/officeDocument/2006/relationships/notesSlide" Target="/ppt/notesSlides/notesSlide16.xml" Id="R07489d19499b45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27dfe91bd4b4f" /><Relationship Type="http://schemas.openxmlformats.org/officeDocument/2006/relationships/image" Target="/ppt/media/image10.jpeg" Id="R9d21f982289f4944" /><Relationship Type="http://schemas.openxmlformats.org/officeDocument/2006/relationships/notesSlide" Target="/ppt/notesSlides/notesSlide17.xml" Id="R637dbad2903a44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46f1ff3284ed1" /><Relationship Type="http://schemas.openxmlformats.org/officeDocument/2006/relationships/image" Target="/ppt/media/image11.jpeg" Id="R28e3408a0939454f" /><Relationship Type="http://schemas.openxmlformats.org/officeDocument/2006/relationships/notesSlide" Target="/ppt/notesSlides/notesSlide18.xml" Id="Rc447dcf447b244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d7e76d98432a" /><Relationship Type="http://schemas.openxmlformats.org/officeDocument/2006/relationships/image" Target="/ppt/media/image12.jpeg" Id="R6968b76af0894651" /><Relationship Type="http://schemas.openxmlformats.org/officeDocument/2006/relationships/notesSlide" Target="/ppt/notesSlides/notesSlide19.xml" Id="R6900c49a552343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5b549f8d4155" /><Relationship Type="http://schemas.openxmlformats.org/officeDocument/2006/relationships/image" Target="/ppt/media/image13.jpeg" Id="Rbef456f01c874698" /><Relationship Type="http://schemas.openxmlformats.org/officeDocument/2006/relationships/notesSlide" Target="/ppt/notesSlides/notesSlide20.xml" Id="R49ca0708638047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5897d14142a5" /><Relationship Type="http://schemas.openxmlformats.org/officeDocument/2006/relationships/image" Target="/ppt/media/image14.jpeg" Id="R4eee49c0d7b84984" /><Relationship Type="http://schemas.openxmlformats.org/officeDocument/2006/relationships/notesSlide" Target="/ppt/notesSlides/notesSlide21.xml" Id="R1505fb89c6a142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c42578764434c" /><Relationship Type="http://schemas.openxmlformats.org/officeDocument/2006/relationships/image" Target="/ppt/media/image.png" Id="R76d4f9e1cceb4311" /><Relationship Type="http://schemas.openxmlformats.org/officeDocument/2006/relationships/notesSlide" Target="/ppt/notesSlides/notesSlide22.xml" Id="Rf009d0f8646f46f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45586168f45fa" /><Relationship Type="http://schemas.openxmlformats.org/officeDocument/2006/relationships/image" Target="/ppt/media/image2.png" Id="R1f0f7cbb0146422b" /><Relationship Type="http://schemas.openxmlformats.org/officeDocument/2006/relationships/notesSlide" Target="/ppt/notesSlides/notesSlide23.xml" Id="R6d734f041cd146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0b0f7bab749b6" /><Relationship Type="http://schemas.openxmlformats.org/officeDocument/2006/relationships/image" Target="/ppt/media/image3.png" Id="R3e323430b07a4044" /><Relationship Type="http://schemas.openxmlformats.org/officeDocument/2006/relationships/notesSlide" Target="/ppt/notesSlides/notesSlide24.xml" Id="R158f66ee7b1340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a134d84b94219" /><Relationship Type="http://schemas.openxmlformats.org/officeDocument/2006/relationships/notesSlide" Target="/ppt/notesSlides/notesSlide25.xml" Id="Rd50c8619923340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132ef83ab4455" /><Relationship Type="http://schemas.openxmlformats.org/officeDocument/2006/relationships/image" Target="/ppt/media/image15.jpeg" Id="R131f729fb8f7418a" /><Relationship Type="http://schemas.openxmlformats.org/officeDocument/2006/relationships/notesSlide" Target="/ppt/notesSlides/notesSlide26.xml" Id="R494018fa96ad4a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0f0c1e8e3454f" /><Relationship Type="http://schemas.openxmlformats.org/officeDocument/2006/relationships/image" Target="/ppt/media/image16.jpeg" Id="Rb1b048f7bf814705" /><Relationship Type="http://schemas.openxmlformats.org/officeDocument/2006/relationships/notesSlide" Target="/ppt/notesSlides/notesSlide27.xml" Id="R266de769e6434fc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2c88c7e5d4071" /><Relationship Type="http://schemas.openxmlformats.org/officeDocument/2006/relationships/image" Target="/ppt/media/image17.jpeg" Id="R9e8b563c13074637" /><Relationship Type="http://schemas.openxmlformats.org/officeDocument/2006/relationships/notesSlide" Target="/ppt/notesSlides/notesSlide28.xml" Id="Rd9dea5d013164d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068074b54623" /><Relationship Type="http://schemas.openxmlformats.org/officeDocument/2006/relationships/image" Target="/ppt/media/image18.jpeg" Id="R5ff631e9c83747a2" /><Relationship Type="http://schemas.openxmlformats.org/officeDocument/2006/relationships/notesSlide" Target="/ppt/notesSlides/notesSlide29.xml" Id="R4d3dcfd0737a4c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09af4375b4f89" /><Relationship Type="http://schemas.openxmlformats.org/officeDocument/2006/relationships/image" Target="/ppt/media/image19.jpeg" Id="Rb600076bc0a54136" /><Relationship Type="http://schemas.openxmlformats.org/officeDocument/2006/relationships/notesSlide" Target="/ppt/notesSlides/notesSlide30.xml" Id="Rafe95e1e70d942d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0297d67ff4832" /><Relationship Type="http://schemas.openxmlformats.org/officeDocument/2006/relationships/image" Target="/ppt/media/image20.jpeg" Id="R4efa6d96f2cc4c15" /><Relationship Type="http://schemas.openxmlformats.org/officeDocument/2006/relationships/notesSlide" Target="/ppt/notesSlides/notesSlide31.xml" Id="Redc6ebf9484b46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37af559af4993" /><Relationship Type="http://schemas.openxmlformats.org/officeDocument/2006/relationships/image" Target="/ppt/media/image21.jpeg" Id="R73b1750791fd49d3" /><Relationship Type="http://schemas.openxmlformats.org/officeDocument/2006/relationships/notesSlide" Target="/ppt/notesSlides/notesSlide32.xml" Id="R43e9789d7ea044c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dab67a5a649fa" /><Relationship Type="http://schemas.openxmlformats.org/officeDocument/2006/relationships/image" Target="/ppt/media/image22.jpeg" Id="R4365a0cfda6248f7" /><Relationship Type="http://schemas.openxmlformats.org/officeDocument/2006/relationships/notesSlide" Target="/ppt/notesSlides/notesSlide33.xml" Id="R8548be874c82485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409a66e04a5c" /><Relationship Type="http://schemas.openxmlformats.org/officeDocument/2006/relationships/image" Target="/ppt/media/image23.jpeg" Id="Rbe53f1f3e8c64ab6" /><Relationship Type="http://schemas.openxmlformats.org/officeDocument/2006/relationships/notesSlide" Target="/ppt/notesSlides/notesSlide34.xml" Id="Rea756672e6c94ed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4013f94e0425d" /><Relationship Type="http://schemas.openxmlformats.org/officeDocument/2006/relationships/image" Target="/ppt/media/image24.jpeg" Id="Rc32a2ba5b6c548c8" /><Relationship Type="http://schemas.openxmlformats.org/officeDocument/2006/relationships/notesSlide" Target="/ppt/notesSlides/notesSlide35.xml" Id="R298d0cb8957047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060ae9a8742ef" /><Relationship Type="http://schemas.openxmlformats.org/officeDocument/2006/relationships/image" Target="/ppt/media/image25.jpeg" Id="Rcab7afd1cf794293" /><Relationship Type="http://schemas.openxmlformats.org/officeDocument/2006/relationships/notesSlide" Target="/ppt/notesSlides/notesSlide36.xml" Id="R6e952433ed2c471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4f7c537b4d2a" /><Relationship Type="http://schemas.openxmlformats.org/officeDocument/2006/relationships/image" Target="/ppt/media/image26.jpeg" Id="R55c1e1ec6d144916" /><Relationship Type="http://schemas.openxmlformats.org/officeDocument/2006/relationships/notesSlide" Target="/ppt/notesSlides/notesSlide37.xml" Id="R8f73fbf180c741a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5fd9dd99041f1" /><Relationship Type="http://schemas.openxmlformats.org/officeDocument/2006/relationships/image" Target="/ppt/media/image4.png" Id="R44b257742c3d4e40" /><Relationship Type="http://schemas.openxmlformats.org/officeDocument/2006/relationships/notesSlide" Target="/ppt/notesSlides/notesSlide38.xml" Id="R488c6f554c824d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891ce5ead41af" /><Relationship Type="http://schemas.openxmlformats.org/officeDocument/2006/relationships/image" Target="/ppt/media/image5.png" Id="Rbf712f3158e74c69" /><Relationship Type="http://schemas.openxmlformats.org/officeDocument/2006/relationships/notesSlide" Target="/ppt/notesSlides/notesSlide39.xml" Id="Rb74d5514f8a44c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3aa32df084866"/>
          <a:stretch xmlns:a="http://schemas.openxmlformats.org/drawingml/2006/main"/>
        </p:blipFill>
        <p:spPr>
          <a:xfrm xmlns:a="http://schemas.openxmlformats.org/drawingml/2006/main">
            <a:off x="7184813" y="400050"/>
            <a:ext cx="3765973" cy="26479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301b8c6a746fa"/>
          <a:stretch xmlns:a="http://schemas.openxmlformats.org/drawingml/2006/main"/>
        </p:blipFill>
        <p:spPr>
          <a:xfrm xmlns:a="http://schemas.openxmlformats.org/drawingml/2006/main">
            <a:off x="7184813" y="3276600"/>
            <a:ext cx="3765973" cy="2647950"/>
          </a:xfrm>
          <a:prstGeom xmlns:a="http://schemas.openxmlformats.org/drawingml/2006/main" prst="rect">
            <a:avLst/>
          </a:prstGeom>
        </p:spPr>
      </p:pic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35F34E7-27BA-4284-B718-FB58457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LOCAL V1 DEMO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778191-F113-4FA4-B76C-A03F449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5667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Archive Collection System design + demo walkthrough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71401A4-6251-4F2E-A18E-8E342BF3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F42F21E-018A-4C5F-8CBF-8B9FE87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Use this deck to explain the design principles and technical model first, then run the live demo with screenshots from the running system.</a:t>
            </a:r>
          </a:p>
        </p:txBody>
      </p:sp>
      <p:sp>
        <p:nvSpPr>
          <p:cNvPr id="7" name="qa">
            <a:extLst xmlns:a="http://schemas.openxmlformats.org/drawingml/2006/main">
              <a:ext uri="{FF2B5EF4-FFF2-40B4-BE49-F238E27FC236}">
                <a16:creationId xmlns:a16="http://schemas.microsoft.com/office/drawing/2014/main" id="{30D1EE57-530F-4A8D-B931-BC4BC40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Validated: 89 / 89 feature checks passed</a:t>
            </a:r>
          </a:p>
        </p:txBody>
      </p:sp>
      <p:sp>
        <p:nvSpPr>
          <p:cNvPr id="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F2E300D8-B213-4B60-A2C9-47150C7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5F414450-9BE1-4760-9F9B-DEB4C81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0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63B2C67-F908-4C13-B9A8-010D05DA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3207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eyebrow-2">
            <a:extLst xmlns:a="http://schemas.openxmlformats.org/drawingml/2006/main">
              <a:ext uri="{FF2B5EF4-FFF2-40B4-BE49-F238E27FC236}">
                <a16:creationId xmlns:a16="http://schemas.microsoft.com/office/drawing/2014/main" id="{D694CC80-6E9E-40AB-ACB5-DAF5B88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DESIGN SECTION</a:t>
            </a:r>
          </a:p>
        </p:txBody>
      </p:sp>
      <p:sp>
        <p:nvSpPr>
          <p:cNvPr id="2" name="design-title-2">
            <a:extLst xmlns:a="http://schemas.openxmlformats.org/drawingml/2006/main">
              <a:ext uri="{FF2B5EF4-FFF2-40B4-BE49-F238E27FC236}">
                <a16:creationId xmlns:a16="http://schemas.microsoft.com/office/drawing/2014/main" id="{998386C8-E613-41D0-A5F6-A2A3C1FF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0000"/>
                </a:solidFill>
              </a:defRPr>
            </a:pPr>
            <a:r>
              <a:rPr sz="3525" b="1">
                <a:solidFill>
                  <a:srgbClr val="000000"/>
                </a:solidFill>
              </a:rPr>
              <a:t>The demo is a local proof of a larger DAM and metadata platform</a:t>
            </a:r>
          </a:p>
        </p:txBody>
      </p:sp>
      <p:sp>
        <p:nvSpPr>
          <p:cNvPr id="3" name="design-accent-2">
            <a:extLst xmlns:a="http://schemas.openxmlformats.org/drawingml/2006/main">
              <a:ext uri="{FF2B5EF4-FFF2-40B4-BE49-F238E27FC236}">
                <a16:creationId xmlns:a16="http://schemas.microsoft.com/office/drawing/2014/main" id="{E74D3A5F-EFA4-44A8-B865-8C82B19C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ign-body-2">
            <a:extLst xmlns:a="http://schemas.openxmlformats.org/drawingml/2006/main">
              <a:ext uri="{FF2B5EF4-FFF2-40B4-BE49-F238E27FC236}">
                <a16:creationId xmlns:a16="http://schemas.microsoft.com/office/drawing/2014/main" id="{C1410487-12EC-41C7-A27D-71499E18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The first section explains the product principles, design choices, technical architecture, metadata model, AI intake workflow, and backlog before the click-by-click demo begins.</a:t>
            </a:r>
          </a:p>
        </p:txBody>
      </p:sp>
      <p:sp>
        <p:nvSpPr>
          <p:cNvPr id="5" name="design-source-2-box">
            <a:extLst xmlns:a="http://schemas.openxmlformats.org/drawingml/2006/main">
              <a:ext uri="{FF2B5EF4-FFF2-40B4-BE49-F238E27FC236}">
                <a16:creationId xmlns:a16="http://schemas.microsoft.com/office/drawing/2014/main" id="{8A6A3FD1-7D7C-4372-8DBC-1F1B08E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200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esign-source-2-heading">
            <a:extLst xmlns:a="http://schemas.openxmlformats.org/drawingml/2006/main">
              <a:ext uri="{FF2B5EF4-FFF2-40B4-BE49-F238E27FC236}">
                <a16:creationId xmlns:a16="http://schemas.microsoft.com/office/drawing/2014/main" id="{D4B9D0A1-9752-43D9-8880-B588838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Source documents</a:t>
            </a:r>
          </a:p>
        </p:txBody>
      </p:sp>
      <p:sp>
        <p:nvSpPr>
          <p:cNvPr id="7" name="design-source-2-body">
            <a:extLst xmlns:a="http://schemas.openxmlformats.org/drawingml/2006/main">
              <a:ext uri="{FF2B5EF4-FFF2-40B4-BE49-F238E27FC236}">
                <a16:creationId xmlns:a16="http://schemas.microsoft.com/office/drawing/2014/main" id="{1131D55A-3C5B-4EEB-B4A1-5913CA92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Product technical design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Metadata user manual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Taxonomy reference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Architecture backlog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6B3F43F-A41B-437C-8113-D57E03F1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E29C85CB-ACDD-4939-8B80-F248C878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0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7E94C334-D377-4423-AB1D-5F5DBD7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051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637331B8-101A-4589-82E0-D42AC408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Design principles keep the archive useful and safe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0B348130-52A5-43AE-90E1-A6FB3E79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9D0C135A-2B25-416A-AFE2-CC6A7CEC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These are the rules behind the local V1 implementation and the larger DAM roadmap.</a:t>
            </a:r>
          </a:p>
        </p:txBody>
      </p:sp>
      <p:sp>
        <p:nvSpPr>
          <p:cNvPr id="4" name="principle-0-3-box">
            <a:extLst xmlns:a="http://schemas.openxmlformats.org/drawingml/2006/main">
              <a:ext uri="{FF2B5EF4-FFF2-40B4-BE49-F238E27FC236}">
                <a16:creationId xmlns:a16="http://schemas.microsoft.com/office/drawing/2014/main" id="{805F73A6-317E-4F2B-BDF3-83399808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inciple-0-3-heading">
            <a:extLst xmlns:a="http://schemas.openxmlformats.org/drawingml/2006/main">
              <a:ext uri="{FF2B5EF4-FFF2-40B4-BE49-F238E27FC236}">
                <a16:creationId xmlns:a16="http://schemas.microsoft.com/office/drawing/2014/main" id="{A91E7A17-4126-4876-9C14-4E5B8ACD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Preserve before publish</a:t>
            </a:r>
          </a:p>
        </p:txBody>
      </p:sp>
      <p:sp>
        <p:nvSpPr>
          <p:cNvPr id="6" name="principle-0-3-body">
            <a:extLst xmlns:a="http://schemas.openxmlformats.org/drawingml/2006/main">
              <a:ext uri="{FF2B5EF4-FFF2-40B4-BE49-F238E27FC236}">
                <a16:creationId xmlns:a16="http://schemas.microsoft.com/office/drawing/2014/main" id="{9A5CD694-BBFB-468E-9059-6F0F074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Canonical files, checksums, derivative types, and backups are modeled before public delivery features.</a:t>
            </a:r>
          </a:p>
        </p:txBody>
      </p:sp>
      <p:sp>
        <p:nvSpPr>
          <p:cNvPr id="7" name="principle-1-3-box">
            <a:extLst xmlns:a="http://schemas.openxmlformats.org/drawingml/2006/main">
              <a:ext uri="{FF2B5EF4-FFF2-40B4-BE49-F238E27FC236}">
                <a16:creationId xmlns:a16="http://schemas.microsoft.com/office/drawing/2014/main" id="{A786788F-546C-4863-B127-F00E7DB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rinciple-1-3-heading">
            <a:extLst xmlns:a="http://schemas.openxmlformats.org/drawingml/2006/main">
              <a:ext uri="{FF2B5EF4-FFF2-40B4-BE49-F238E27FC236}">
                <a16:creationId xmlns:a16="http://schemas.microsoft.com/office/drawing/2014/main" id="{D741A45E-10FB-4080-8DA5-E6AE821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Separate knowledge from files</a:t>
            </a:r>
          </a:p>
        </p:txBody>
      </p:sp>
      <p:sp>
        <p:nvSpPr>
          <p:cNvPr id="9" name="principle-1-3-body">
            <a:extLst xmlns:a="http://schemas.openxmlformats.org/drawingml/2006/main">
              <a:ext uri="{FF2B5EF4-FFF2-40B4-BE49-F238E27FC236}">
                <a16:creationId xmlns:a16="http://schemas.microsoft.com/office/drawing/2014/main" id="{B09FC929-7CC6-4375-8903-A00B84A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Objects, authorities, taxonomy, storage, media, audit, and intake stay distinct so each can evolve independently.</a:t>
            </a:r>
          </a:p>
        </p:txBody>
      </p:sp>
      <p:sp>
        <p:nvSpPr>
          <p:cNvPr id="10" name="principle-2-3-box">
            <a:extLst xmlns:a="http://schemas.openxmlformats.org/drawingml/2006/main">
              <a:ext uri="{FF2B5EF4-FFF2-40B4-BE49-F238E27FC236}">
                <a16:creationId xmlns:a16="http://schemas.microsoft.com/office/drawing/2014/main" id="{F1FE18D0-5C54-4BC2-9615-AD412CCC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rinciple-2-3-heading">
            <a:extLst xmlns:a="http://schemas.openxmlformats.org/drawingml/2006/main">
              <a:ext uri="{FF2B5EF4-FFF2-40B4-BE49-F238E27FC236}">
                <a16:creationId xmlns:a16="http://schemas.microsoft.com/office/drawing/2014/main" id="{6CA14A15-D408-42B3-B11D-0D5B91EA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Human review owns metadata</a:t>
            </a:r>
          </a:p>
        </p:txBody>
      </p:sp>
      <p:sp>
        <p:nvSpPr>
          <p:cNvPr id="12" name="principle-2-3-body">
            <a:extLst xmlns:a="http://schemas.openxmlformats.org/drawingml/2006/main">
              <a:ext uri="{FF2B5EF4-FFF2-40B4-BE49-F238E27FC236}">
                <a16:creationId xmlns:a16="http://schemas.microsoft.com/office/drawing/2014/main" id="{6DBB836D-9F6B-43F2-B4D4-E5945E9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AI can draft, but curator review controls titles, rights, authority links, provenance, and submit decisions.</a:t>
            </a:r>
          </a:p>
        </p:txBody>
      </p:sp>
      <p:sp>
        <p:nvSpPr>
          <p:cNvPr id="13" name="principle-3-3-box">
            <a:extLst xmlns:a="http://schemas.openxmlformats.org/drawingml/2006/main">
              <a:ext uri="{FF2B5EF4-FFF2-40B4-BE49-F238E27FC236}">
                <a16:creationId xmlns:a16="http://schemas.microsoft.com/office/drawing/2014/main" id="{77DC7EC8-8FB0-4CE0-8296-68ECFA86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25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rinciple-3-3-heading">
            <a:extLst xmlns:a="http://schemas.openxmlformats.org/drawingml/2006/main">
              <a:ext uri="{FF2B5EF4-FFF2-40B4-BE49-F238E27FC236}">
                <a16:creationId xmlns:a16="http://schemas.microsoft.com/office/drawing/2014/main" id="{A4853A11-D20A-4C38-B3A6-B56E85B6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Viewer access is useful but bounded</a:t>
            </a:r>
          </a:p>
        </p:txBody>
      </p:sp>
      <p:sp>
        <p:nvSpPr>
          <p:cNvPr id="15" name="principle-3-3-body">
            <a:extLst xmlns:a="http://schemas.openxmlformats.org/drawingml/2006/main">
              <a:ext uri="{FF2B5EF4-FFF2-40B4-BE49-F238E27FC236}">
                <a16:creationId xmlns:a16="http://schemas.microsoft.com/office/drawing/2014/main" id="{8286F8CC-8115-4766-A47D-E8529BCF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Public-style users can search and read safe metadata while storage paths, checksums, notes, and admin actions stay hidden.</a:t>
            </a: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E692F77-1833-433F-8F05-E468C5F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C92697F3-6D40-41EC-807F-FDFD330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8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C6F9DAF-76A6-464A-B942-7C2ADD7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7984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4CFD93A-9E14-4F68-982B-A3F22B2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Design choices make V1 local but production-shaped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4192370D-45C9-4A03-A9A7-17D5273E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AC405A3A-F3EE-4F74-9D68-3908AC6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local app intentionally avoids cloud dependencies while preserving the architecture boundaries that matter.</a:t>
            </a:r>
          </a:p>
        </p:txBody>
      </p:sp>
      <p:sp>
        <p:nvSpPr>
          <p:cNvPr id="4" name="choice-vision-4-box">
            <a:extLst xmlns:a="http://schemas.openxmlformats.org/drawingml/2006/main">
              <a:ext uri="{FF2B5EF4-FFF2-40B4-BE49-F238E27FC236}">
                <a16:creationId xmlns:a16="http://schemas.microsoft.com/office/drawing/2014/main" id="{C913BEE4-C722-48BE-A80A-2EDBBB2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52578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hoice-vision-4-heading">
            <a:extLst xmlns:a="http://schemas.openxmlformats.org/drawingml/2006/main">
              <a:ext uri="{FF2B5EF4-FFF2-40B4-BE49-F238E27FC236}">
                <a16:creationId xmlns:a16="http://schemas.microsoft.com/office/drawing/2014/main" id="{1F14684F-5375-46F7-A21B-CD05EA8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Target product shape</a:t>
            </a:r>
          </a:p>
        </p:txBody>
      </p:sp>
      <p:sp>
        <p:nvSpPr>
          <p:cNvPr id="6" name="choice-vision-4-body">
            <a:extLst xmlns:a="http://schemas.openxmlformats.org/drawingml/2006/main">
              <a:ext uri="{FF2B5EF4-FFF2-40B4-BE49-F238E27FC236}">
                <a16:creationId xmlns:a16="http://schemas.microsoft.com/office/drawing/2014/main" id="{7FE6FA12-D8C0-4756-B9F8-A5C06FF6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4914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DAM manages source files, derivatives, rights, and versions.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Metadata service manages items, collections, entities, schemas, and review state.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Search and viewer services support facets, full text, maps, timelines, IIIF, citation, and export.</a:t>
            </a:r>
          </a:p>
        </p:txBody>
      </p:sp>
      <p:sp>
        <p:nvSpPr>
          <p:cNvPr id="7" name="choice-v1-4-box">
            <a:extLst xmlns:a="http://schemas.openxmlformats.org/drawingml/2006/main">
              <a:ext uri="{FF2B5EF4-FFF2-40B4-BE49-F238E27FC236}">
                <a16:creationId xmlns:a16="http://schemas.microsoft.com/office/drawing/2014/main" id="{E8CF11AF-C07A-4D88-98E0-1C3E2EC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2578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hoice-v1-4-heading">
            <a:extLst xmlns:a="http://schemas.openxmlformats.org/drawingml/2006/main">
              <a:ext uri="{FF2B5EF4-FFF2-40B4-BE49-F238E27FC236}">
                <a16:creationId xmlns:a16="http://schemas.microsoft.com/office/drawing/2014/main" id="{1C4833EE-706E-4677-B7D6-53C1E877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Local V1 implementation</a:t>
            </a:r>
          </a:p>
        </p:txBody>
      </p:sp>
      <p:sp>
        <p:nvSpPr>
          <p:cNvPr id="9" name="choice-v1-4-body">
            <a:extLst xmlns:a="http://schemas.openxmlformats.org/drawingml/2006/main">
              <a:ext uri="{FF2B5EF4-FFF2-40B4-BE49-F238E27FC236}">
                <a16:creationId xmlns:a16="http://schemas.microsoft.com/office/drawing/2014/main" id="{F7BCDCE0-85D5-43A3-82F9-8090A9C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4914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Python http.server backend and static HTML/CSS/JS frontend.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SQLite database for catalog, users, sessions, taxonomy, audit, media, and intake.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Local folders for archive-master, intake staging, and backup exports.</a:t>
            </a:r>
          </a:p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Google Drive URL fields act as demo links, not canonical storage.</a:t>
            </a:r>
          </a:p>
        </p:txBody>
      </p:sp>
      <p:sp>
        <p:nvSpPr>
          <p:cNvPr id="10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DFF6B71-F743-4230-B582-795602C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4">
            <a:extLst xmlns:a="http://schemas.openxmlformats.org/drawingml/2006/main">
              <a:ext uri="{FF2B5EF4-FFF2-40B4-BE49-F238E27FC236}">
                <a16:creationId xmlns:a16="http://schemas.microsoft.com/office/drawing/2014/main" id="{FF2DC284-0486-4622-B35C-0D7148C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B6AEE909-C5B6-49EB-81C1-FF719B6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8911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BD0AA76F-B9B4-4768-9462-F3C882DE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technical design separates five responsibilities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541D4F22-61A1-42D0-94B1-830AA27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6F777B63-29E0-4B96-8D7D-EEA3CCF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full design can grow toward DAM, search, IIIF, and workflow services without changing the curator-facing mental model.</a:t>
            </a:r>
          </a:p>
        </p:txBody>
      </p:sp>
      <p:sp>
        <p:nvSpPr>
          <p:cNvPr id="4" name="arch-0-5-node">
            <a:extLst xmlns:a="http://schemas.openxmlformats.org/drawingml/2006/main">
              <a:ext uri="{FF2B5EF4-FFF2-40B4-BE49-F238E27FC236}">
                <a16:creationId xmlns:a16="http://schemas.microsoft.com/office/drawing/2014/main" id="{C03A7602-9D44-4D27-818C-C5BFEC7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2038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-0-5-head">
            <a:extLst xmlns:a="http://schemas.openxmlformats.org/drawingml/2006/main">
              <a:ext uri="{FF2B5EF4-FFF2-40B4-BE49-F238E27FC236}">
                <a16:creationId xmlns:a16="http://schemas.microsoft.com/office/drawing/2014/main" id="{1218326A-1697-4008-8625-41E43C48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UI</a:t>
            </a:r>
          </a:p>
        </p:txBody>
      </p:sp>
      <p:sp>
        <p:nvSpPr>
          <p:cNvPr id="6" name="arch-0-5-copy">
            <a:extLst xmlns:a="http://schemas.openxmlformats.org/drawingml/2006/main">
              <a:ext uri="{FF2B5EF4-FFF2-40B4-BE49-F238E27FC236}">
                <a16:creationId xmlns:a16="http://schemas.microsoft.com/office/drawing/2014/main" id="{8C327687-0454-4935-85CE-FC40563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Catalog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Record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Authorities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Storage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Admin</a:t>
            </a:r>
          </a:p>
        </p:txBody>
      </p:sp>
      <p:sp>
        <p:nvSpPr>
          <p:cNvPr id="7" name="arch-arrow-0-5">
            <a:extLst xmlns:a="http://schemas.openxmlformats.org/drawingml/2006/main">
              <a:ext uri="{FF2B5EF4-FFF2-40B4-BE49-F238E27FC236}">
                <a16:creationId xmlns:a16="http://schemas.microsoft.com/office/drawing/2014/main" id="{4D030452-0CA8-48AF-A5F6-61DBDF13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1-5-node">
            <a:extLst xmlns:a="http://schemas.openxmlformats.org/drawingml/2006/main">
              <a:ext uri="{FF2B5EF4-FFF2-40B4-BE49-F238E27FC236}">
                <a16:creationId xmlns:a16="http://schemas.microsoft.com/office/drawing/2014/main" id="{6ED7EC91-9217-415E-B430-E57BB6D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38400"/>
            <a:ext cx="2038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ch-1-5-head">
            <a:extLst xmlns:a="http://schemas.openxmlformats.org/drawingml/2006/main">
              <a:ext uri="{FF2B5EF4-FFF2-40B4-BE49-F238E27FC236}">
                <a16:creationId xmlns:a16="http://schemas.microsoft.com/office/drawing/2014/main" id="{F637C46F-577E-4B73-B784-EB2EB7E5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API / BFF</a:t>
            </a:r>
          </a:p>
        </p:txBody>
      </p:sp>
      <p:sp>
        <p:nvSpPr>
          <p:cNvPr id="10" name="arch-1-5-copy">
            <a:extLst xmlns:a="http://schemas.openxmlformats.org/drawingml/2006/main">
              <a:ext uri="{FF2B5EF4-FFF2-40B4-BE49-F238E27FC236}">
                <a16:creationId xmlns:a16="http://schemas.microsoft.com/office/drawing/2014/main" id="{F450AEA6-66AB-46F0-8486-28C5C5C0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19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Auth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RBAC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JSON APIs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Upload handlers</a:t>
            </a:r>
          </a:p>
        </p:txBody>
      </p:sp>
      <p:sp>
        <p:nvSpPr>
          <p:cNvPr id="11" name="arch-arrow-1-5">
            <a:extLst xmlns:a="http://schemas.openxmlformats.org/drawingml/2006/main">
              <a:ext uri="{FF2B5EF4-FFF2-40B4-BE49-F238E27FC236}">
                <a16:creationId xmlns:a16="http://schemas.microsoft.com/office/drawing/2014/main" id="{1686F447-7344-41CD-9115-128CD430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2-5-node">
            <a:extLst xmlns:a="http://schemas.openxmlformats.org/drawingml/2006/main">
              <a:ext uri="{FF2B5EF4-FFF2-40B4-BE49-F238E27FC236}">
                <a16:creationId xmlns:a16="http://schemas.microsoft.com/office/drawing/2014/main" id="{58222968-52BB-4F9A-9C93-32E4021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038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-2-5-head">
            <a:extLst xmlns:a="http://schemas.openxmlformats.org/drawingml/2006/main">
              <a:ext uri="{FF2B5EF4-FFF2-40B4-BE49-F238E27FC236}">
                <a16:creationId xmlns:a16="http://schemas.microsoft.com/office/drawing/2014/main" id="{3B641979-3794-4C38-A6C1-2C299BD1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Metadata</a:t>
            </a:r>
          </a:p>
        </p:txBody>
      </p:sp>
      <p:sp>
        <p:nvSpPr>
          <p:cNvPr id="14" name="arch-2-5-copy">
            <a:extLst xmlns:a="http://schemas.openxmlformats.org/drawingml/2006/main">
              <a:ext uri="{FF2B5EF4-FFF2-40B4-BE49-F238E27FC236}">
                <a16:creationId xmlns:a16="http://schemas.microsoft.com/office/drawing/2014/main" id="{DF738B27-384D-47B2-9ADB-8FEFA6F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Objects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Collections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Authorities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Taxonomy</a:t>
            </a:r>
          </a:p>
        </p:txBody>
      </p:sp>
      <p:sp>
        <p:nvSpPr>
          <p:cNvPr id="15" name="arch-arrow-2-5">
            <a:extLst xmlns:a="http://schemas.openxmlformats.org/drawingml/2006/main">
              <a:ext uri="{FF2B5EF4-FFF2-40B4-BE49-F238E27FC236}">
                <a16:creationId xmlns:a16="http://schemas.microsoft.com/office/drawing/2014/main" id="{871B3267-B0FD-4282-87E5-0A54D12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3-5-node">
            <a:extLst xmlns:a="http://schemas.openxmlformats.org/drawingml/2006/main">
              <a:ext uri="{FF2B5EF4-FFF2-40B4-BE49-F238E27FC236}">
                <a16:creationId xmlns:a16="http://schemas.microsoft.com/office/drawing/2014/main" id="{E7B61D57-3B0E-4C0E-B6FF-F5CC08E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2038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3-5-head">
            <a:extLst xmlns:a="http://schemas.openxmlformats.org/drawingml/2006/main">
              <a:ext uri="{FF2B5EF4-FFF2-40B4-BE49-F238E27FC236}">
                <a16:creationId xmlns:a16="http://schemas.microsoft.com/office/drawing/2014/main" id="{C78D882A-16BC-4575-A42C-782864E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Asset Layer</a:t>
            </a:r>
          </a:p>
        </p:txBody>
      </p:sp>
      <p:sp>
        <p:nvSpPr>
          <p:cNvPr id="18" name="arch-3-5-copy">
            <a:extLst xmlns:a="http://schemas.openxmlformats.org/drawingml/2006/main">
              <a:ext uri="{FF2B5EF4-FFF2-40B4-BE49-F238E27FC236}">
                <a16:creationId xmlns:a16="http://schemas.microsoft.com/office/drawing/2014/main" id="{CE24BADC-6C50-47CF-95B3-4A9A03FE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Local files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Drive links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Checksums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Derivative types</a:t>
            </a:r>
          </a:p>
        </p:txBody>
      </p:sp>
      <p:sp>
        <p:nvSpPr>
          <p:cNvPr id="19" name="arch-arrow-3-5">
            <a:extLst xmlns:a="http://schemas.openxmlformats.org/drawingml/2006/main">
              <a:ext uri="{FF2B5EF4-FFF2-40B4-BE49-F238E27FC236}">
                <a16:creationId xmlns:a16="http://schemas.microsoft.com/office/drawing/2014/main" id="{0BE96202-5939-455B-99F6-0FDA59B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4-5-node">
            <a:extLst xmlns:a="http://schemas.openxmlformats.org/drawingml/2006/main">
              <a:ext uri="{FF2B5EF4-FFF2-40B4-BE49-F238E27FC236}">
                <a16:creationId xmlns:a16="http://schemas.microsoft.com/office/drawing/2014/main" id="{DB392EC6-65EC-478B-9762-A3B8BBB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38400"/>
            <a:ext cx="2038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rch-4-5-head">
            <a:extLst xmlns:a="http://schemas.openxmlformats.org/drawingml/2006/main">
              <a:ext uri="{FF2B5EF4-FFF2-40B4-BE49-F238E27FC236}">
                <a16:creationId xmlns:a16="http://schemas.microsoft.com/office/drawing/2014/main" id="{BD9635CF-8B58-45E2-A787-626807A1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Governance</a:t>
            </a:r>
          </a:p>
        </p:txBody>
      </p:sp>
      <p:sp>
        <p:nvSpPr>
          <p:cNvPr id="22" name="arch-4-5-copy">
            <a:extLst xmlns:a="http://schemas.openxmlformats.org/drawingml/2006/main">
              <a:ext uri="{FF2B5EF4-FFF2-40B4-BE49-F238E27FC236}">
                <a16:creationId xmlns:a16="http://schemas.microsoft.com/office/drawing/2014/main" id="{68ABE22A-BBDC-41D3-BE37-6D06F08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Viewer-safe payloads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Audit logs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Backups</a:t>
            </a:r>
          </a:p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Admin-only APIs</a:t>
            </a:r>
          </a:p>
        </p:txBody>
      </p:sp>
      <p:sp>
        <p:nvSpPr>
          <p:cNvPr id="23" name="arch-future-5">
            <a:extLst xmlns:a="http://schemas.openxmlformats.org/drawingml/2006/main">
              <a:ext uri="{FF2B5EF4-FFF2-40B4-BE49-F238E27FC236}">
                <a16:creationId xmlns:a16="http://schemas.microsoft.com/office/drawing/2014/main" id="{0BB61368-79FB-468A-A4E6-D04DF4C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Future-ready services: ResourceSpace or asset API, PostgreSQL/JSONB, OpenSearch, IIIF viewer, OCR/transcription workers, vector or graph search.</a:t>
            </a:r>
          </a:p>
        </p:txBody>
      </p:sp>
      <p:sp>
        <p:nvSpPr>
          <p:cNvPr id="2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F033D17-BA50-42D4-BDF3-471CE2F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5">
            <a:extLst xmlns:a="http://schemas.openxmlformats.org/drawingml/2006/main">
              <a:ext uri="{FF2B5EF4-FFF2-40B4-BE49-F238E27FC236}">
                <a16:creationId xmlns:a16="http://schemas.microsoft.com/office/drawing/2014/main" id="{DA9304C2-9D9C-454B-8674-EAA561D7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26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A122B565-F9C9-462F-89C5-B99C2F22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9141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F2A58C38-E154-4EDB-849D-CC6E282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Metadata is layered so archives do not become tag soup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0CE1959F-4751-43EA-BDE4-90015CC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DB0F4DE5-56FB-4AA9-86B6-45117027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model keeps display fields, controlled vocabularies, real-world entities, and preservation data separate.</a:t>
            </a:r>
          </a:p>
        </p:txBody>
      </p:sp>
      <p:sp>
        <p:nvSpPr>
          <p:cNvPr id="4" name="meta-row-box-0-6">
            <a:extLst xmlns:a="http://schemas.openxmlformats.org/drawingml/2006/main">
              <a:ext uri="{FF2B5EF4-FFF2-40B4-BE49-F238E27FC236}">
                <a16:creationId xmlns:a16="http://schemas.microsoft.com/office/drawing/2014/main" id="{0F4A896C-4DDE-4FC8-9225-6CB7FAE2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a-row-head-0-6">
            <a:extLst xmlns:a="http://schemas.openxmlformats.org/drawingml/2006/main">
              <a:ext uri="{FF2B5EF4-FFF2-40B4-BE49-F238E27FC236}">
                <a16:creationId xmlns:a16="http://schemas.microsoft.com/office/drawing/2014/main" id="{A4AA08F4-F833-4CC8-B116-1A7E178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Core object</a:t>
            </a:r>
          </a:p>
        </p:txBody>
      </p:sp>
      <p:sp>
        <p:nvSpPr>
          <p:cNvPr id="6" name="meta-row-body-0-6">
            <a:extLst xmlns:a="http://schemas.openxmlformats.org/drawingml/2006/main">
              <a:ext uri="{FF2B5EF4-FFF2-40B4-BE49-F238E27FC236}">
                <a16:creationId xmlns:a16="http://schemas.microsoft.com/office/drawing/2014/main" id="{EAC3B152-4604-4F08-90DA-CCB6D94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66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Permanent ID, title, type, date, rights, collection</a:t>
            </a:r>
          </a:p>
        </p:txBody>
      </p:sp>
      <p:sp>
        <p:nvSpPr>
          <p:cNvPr id="7" name="meta-row-box-1-6">
            <a:extLst xmlns:a="http://schemas.openxmlformats.org/drawingml/2006/main">
              <a:ext uri="{FF2B5EF4-FFF2-40B4-BE49-F238E27FC236}">
                <a16:creationId xmlns:a16="http://schemas.microsoft.com/office/drawing/2014/main" id="{6374C8BB-F2C6-498D-A8B9-714443DC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meta-row-head-1-6">
            <a:extLst xmlns:a="http://schemas.openxmlformats.org/drawingml/2006/main">
              <a:ext uri="{FF2B5EF4-FFF2-40B4-BE49-F238E27FC236}">
                <a16:creationId xmlns:a16="http://schemas.microsoft.com/office/drawing/2014/main" id="{45097295-61A9-4A64-817A-761077F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DCMI / export</a:t>
            </a:r>
          </a:p>
        </p:txBody>
      </p:sp>
      <p:sp>
        <p:nvSpPr>
          <p:cNvPr id="9" name="meta-row-body-1-6">
            <a:extLst xmlns:a="http://schemas.openxmlformats.org/drawingml/2006/main">
              <a:ext uri="{FF2B5EF4-FFF2-40B4-BE49-F238E27FC236}">
                <a16:creationId xmlns:a16="http://schemas.microsoft.com/office/drawing/2014/main" id="{C0828460-B94F-4E3B-BEED-898DCAF5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publisher, source, relation, coverage, extent, medium, citation</a:t>
            </a:r>
          </a:p>
        </p:txBody>
      </p:sp>
      <p:sp>
        <p:nvSpPr>
          <p:cNvPr id="10" name="meta-row-box-2-6">
            <a:extLst xmlns:a="http://schemas.openxmlformats.org/drawingml/2006/main">
              <a:ext uri="{FF2B5EF4-FFF2-40B4-BE49-F238E27FC236}">
                <a16:creationId xmlns:a16="http://schemas.microsoft.com/office/drawing/2014/main" id="{214CEA45-92A2-489C-8477-AED0412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eta-row-head-2-6">
            <a:extLst xmlns:a="http://schemas.openxmlformats.org/drawingml/2006/main">
              <a:ext uri="{FF2B5EF4-FFF2-40B4-BE49-F238E27FC236}">
                <a16:creationId xmlns:a16="http://schemas.microsoft.com/office/drawing/2014/main" id="{65CF0DCF-D710-4272-9C31-9A35CCE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Pacific War domain</a:t>
            </a:r>
          </a:p>
        </p:txBody>
      </p:sp>
      <p:sp>
        <p:nvSpPr>
          <p:cNvPr id="12" name="meta-row-body-2-6">
            <a:extLst xmlns:a="http://schemas.openxmlformats.org/drawingml/2006/main">
              <a:ext uri="{FF2B5EF4-FFF2-40B4-BE49-F238E27FC236}">
                <a16:creationId xmlns:a16="http://schemas.microsoft.com/office/drawing/2014/main" id="{84B3597F-3D07-47B8-95D0-9E46C9D6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71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theater, campaign, battle, unit, vessel, wartime jurisdiction</a:t>
            </a:r>
          </a:p>
        </p:txBody>
      </p:sp>
      <p:sp>
        <p:nvSpPr>
          <p:cNvPr id="13" name="meta-row-box-3-6">
            <a:extLst xmlns:a="http://schemas.openxmlformats.org/drawingml/2006/main">
              <a:ext uri="{FF2B5EF4-FFF2-40B4-BE49-F238E27FC236}">
                <a16:creationId xmlns:a16="http://schemas.microsoft.com/office/drawing/2014/main" id="{BC6E0D98-48C1-45E5-B664-B3E8376C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meta-row-head-3-6">
            <a:extLst xmlns:a="http://schemas.openxmlformats.org/drawingml/2006/main">
              <a:ext uri="{FF2B5EF4-FFF2-40B4-BE49-F238E27FC236}">
                <a16:creationId xmlns:a16="http://schemas.microsoft.com/office/drawing/2014/main" id="{B448FEBE-2976-4E5A-AC04-03D39F4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Authorities</a:t>
            </a:r>
          </a:p>
        </p:txBody>
      </p:sp>
      <p:sp>
        <p:nvSpPr>
          <p:cNvPr id="15" name="meta-row-body-3-6">
            <a:extLst xmlns:a="http://schemas.openxmlformats.org/drawingml/2006/main">
              <a:ext uri="{FF2B5EF4-FFF2-40B4-BE49-F238E27FC236}">
                <a16:creationId xmlns:a16="http://schemas.microsoft.com/office/drawing/2014/main" id="{1A60090C-7488-4BC9-B3A1-D60C8D0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Person, Organization, Place, Event relationships</a:t>
            </a:r>
          </a:p>
        </p:txBody>
      </p:sp>
      <p:sp>
        <p:nvSpPr>
          <p:cNvPr id="16" name="meta-row-box-4-6">
            <a:extLst xmlns:a="http://schemas.openxmlformats.org/drawingml/2006/main">
              <a:ext uri="{FF2B5EF4-FFF2-40B4-BE49-F238E27FC236}">
                <a16:creationId xmlns:a16="http://schemas.microsoft.com/office/drawing/2014/main" id="{7DFFFF23-6EA9-4002-80AA-C5052D0E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meta-row-head-4-6">
            <a:extLst xmlns:a="http://schemas.openxmlformats.org/drawingml/2006/main">
              <a:ext uri="{FF2B5EF4-FFF2-40B4-BE49-F238E27FC236}">
                <a16:creationId xmlns:a16="http://schemas.microsoft.com/office/drawing/2014/main" id="{D35E04F5-FBF2-4387-87C8-0B61C64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Taxonomy</a:t>
            </a:r>
          </a:p>
        </p:txBody>
      </p:sp>
      <p:sp>
        <p:nvSpPr>
          <p:cNvPr id="18" name="meta-row-body-4-6">
            <a:extLst xmlns:a="http://schemas.openxmlformats.org/drawingml/2006/main">
              <a:ext uri="{FF2B5EF4-FFF2-40B4-BE49-F238E27FC236}">
                <a16:creationId xmlns:a16="http://schemas.microsoft.com/office/drawing/2014/main" id="{A9EBDE6D-19EC-4A3A-AD7A-FFDE8621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Object Type, Subject, Rights, Condition, Digitization Status</a:t>
            </a:r>
          </a:p>
        </p:txBody>
      </p:sp>
      <p:sp>
        <p:nvSpPr>
          <p:cNvPr id="19" name="meta-row-box-5-6">
            <a:extLst xmlns:a="http://schemas.openxmlformats.org/drawingml/2006/main">
              <a:ext uri="{FF2B5EF4-FFF2-40B4-BE49-F238E27FC236}">
                <a16:creationId xmlns:a16="http://schemas.microsoft.com/office/drawing/2014/main" id="{B57EE974-27AB-43AE-9FB1-7B4AB3F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meta-row-head-5-6">
            <a:extLst xmlns:a="http://schemas.openxmlformats.org/drawingml/2006/main">
              <a:ext uri="{FF2B5EF4-FFF2-40B4-BE49-F238E27FC236}">
                <a16:creationId xmlns:a16="http://schemas.microsoft.com/office/drawing/2014/main" id="{8894C372-C358-474B-B50A-FAEE97A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Digital media</a:t>
            </a:r>
          </a:p>
        </p:txBody>
      </p:sp>
      <p:sp>
        <p:nvSpPr>
          <p:cNvPr id="21" name="meta-row-body-5-6">
            <a:extLst xmlns:a="http://schemas.openxmlformats.org/drawingml/2006/main">
              <a:ext uri="{FF2B5EF4-FFF2-40B4-BE49-F238E27FC236}">
                <a16:creationId xmlns:a16="http://schemas.microsoft.com/office/drawing/2014/main" id="{22060257-5075-45AA-99CE-09418ACA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filename, provider, derivative type, MIME type, checksum</a:t>
            </a:r>
          </a:p>
        </p:txBody>
      </p:sp>
      <p:sp>
        <p:nvSpPr>
          <p:cNvPr id="22" name="meta-row-box-6-6">
            <a:extLst xmlns:a="http://schemas.openxmlformats.org/drawingml/2006/main">
              <a:ext uri="{FF2B5EF4-FFF2-40B4-BE49-F238E27FC236}">
                <a16:creationId xmlns:a16="http://schemas.microsoft.com/office/drawing/2014/main" id="{FAB35EAB-0411-4AF3-8AEE-2842A79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525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meta-row-head-6-6">
            <a:extLst xmlns:a="http://schemas.openxmlformats.org/drawingml/2006/main">
              <a:ext uri="{FF2B5EF4-FFF2-40B4-BE49-F238E27FC236}">
                <a16:creationId xmlns:a16="http://schemas.microsoft.com/office/drawing/2014/main" id="{BC860DB8-4388-4469-B0A5-E6152997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Admin stewardship</a:t>
            </a:r>
          </a:p>
        </p:txBody>
      </p:sp>
      <p:sp>
        <p:nvSpPr>
          <p:cNvPr id="24" name="meta-row-body-6-6">
            <a:extLst xmlns:a="http://schemas.openxmlformats.org/drawingml/2006/main">
              <a:ext uri="{FF2B5EF4-FFF2-40B4-BE49-F238E27FC236}">
                <a16:creationId xmlns:a16="http://schemas.microsoft.com/office/drawing/2014/main" id="{FE53D37C-343C-423C-9EC1-608D83D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815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storage path, internal notes, preservation notes, metadata JSON</a:t>
            </a:r>
          </a:p>
        </p:txBody>
      </p:sp>
      <p:sp>
        <p:nvSpPr>
          <p:cNvPr id="25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7714EC8-7BDC-4C5B-8322-05CC2A1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6">
            <a:extLst xmlns:a="http://schemas.openxmlformats.org/drawingml/2006/main">
              <a:ext uri="{FF2B5EF4-FFF2-40B4-BE49-F238E27FC236}">
                <a16:creationId xmlns:a16="http://schemas.microsoft.com/office/drawing/2014/main" id="{F2E61C6B-B73A-4C35-9E74-CAEB301E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27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36CEEC8-6C20-4F38-9459-6D67FD99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1326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338E13BB-DD63-48DD-AFA9-4E8971C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Interoperability is designed in, even before V2 services exist</a:t>
            </a:r>
          </a:p>
        </p:txBody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7C6CE6BE-B825-4602-BFAB-738295B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086B7A8C-868F-476C-A448-6C74B17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local profile supports simple discovery now and richer export paths later.</a:t>
            </a:r>
          </a:p>
        </p:txBody>
      </p:sp>
      <p:sp>
        <p:nvSpPr>
          <p:cNvPr id="4" name="interop-dc-7-box">
            <a:extLst xmlns:a="http://schemas.openxmlformats.org/drawingml/2006/main">
              <a:ext uri="{FF2B5EF4-FFF2-40B4-BE49-F238E27FC236}">
                <a16:creationId xmlns:a16="http://schemas.microsoft.com/office/drawing/2014/main" id="{DA0D7811-86DE-4BC1-AF2B-75AA4E2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nterop-dc-7-heading">
            <a:extLst xmlns:a="http://schemas.openxmlformats.org/drawingml/2006/main">
              <a:ext uri="{FF2B5EF4-FFF2-40B4-BE49-F238E27FC236}">
                <a16:creationId xmlns:a16="http://schemas.microsoft.com/office/drawing/2014/main" id="{6D441424-9378-4A3D-AD2C-2D941B5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Dublin Core baseline</a:t>
            </a:r>
          </a:p>
        </p:txBody>
      </p:sp>
      <p:sp>
        <p:nvSpPr>
          <p:cNvPr id="6" name="interop-dc-7-body">
            <a:extLst xmlns:a="http://schemas.openxmlformats.org/drawingml/2006/main">
              <a:ext uri="{FF2B5EF4-FFF2-40B4-BE49-F238E27FC236}">
                <a16:creationId xmlns:a16="http://schemas.microsoft.com/office/drawing/2014/main" id="{693EA0D5-444F-4FAA-9696-FF660D0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933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Title, creator, subject, description, date, type, format, identifier, relation, coverage, and rights all have local mappings.</a:t>
            </a:r>
          </a:p>
        </p:txBody>
      </p:sp>
      <p:sp>
        <p:nvSpPr>
          <p:cNvPr id="7" name="interop-local-7-box">
            <a:extLst xmlns:a="http://schemas.openxmlformats.org/drawingml/2006/main">
              <a:ext uri="{FF2B5EF4-FFF2-40B4-BE49-F238E27FC236}">
                <a16:creationId xmlns:a16="http://schemas.microsoft.com/office/drawing/2014/main" id="{6D554571-7858-468B-9B17-A8482F0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interop-local-7-heading">
            <a:extLst xmlns:a="http://schemas.openxmlformats.org/drawingml/2006/main">
              <a:ext uri="{FF2B5EF4-FFF2-40B4-BE49-F238E27FC236}">
                <a16:creationId xmlns:a16="http://schemas.microsoft.com/office/drawing/2014/main" id="{F53909A4-E46D-4882-831B-93D2DE46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Richer local profile</a:t>
            </a:r>
          </a:p>
        </p:txBody>
      </p:sp>
      <p:sp>
        <p:nvSpPr>
          <p:cNvPr id="9" name="interop-local-7-body">
            <a:extLst xmlns:a="http://schemas.openxmlformats.org/drawingml/2006/main">
              <a:ext uri="{FF2B5EF4-FFF2-40B4-BE49-F238E27FC236}">
                <a16:creationId xmlns:a16="http://schemas.microsoft.com/office/drawing/2014/main" id="{1293D44E-E4C7-436B-953C-654FEAE5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86050"/>
            <a:ext cx="2933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UNTL-inspired Pacific War fields preserve campaign, battle, theater, collection, source, ARK, IIIF URL, and sidecar metadata JSON.</a:t>
            </a:r>
          </a:p>
        </p:txBody>
      </p:sp>
      <p:sp>
        <p:nvSpPr>
          <p:cNvPr id="10" name="interop-future-7-box">
            <a:extLst xmlns:a="http://schemas.openxmlformats.org/drawingml/2006/main">
              <a:ext uri="{FF2B5EF4-FFF2-40B4-BE49-F238E27FC236}">
                <a16:creationId xmlns:a16="http://schemas.microsoft.com/office/drawing/2014/main" id="{0D900810-E17F-4D1B-8ED5-B5F7897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interop-future-7-heading">
            <a:extLst xmlns:a="http://schemas.openxmlformats.org/drawingml/2006/main">
              <a:ext uri="{FF2B5EF4-FFF2-40B4-BE49-F238E27FC236}">
                <a16:creationId xmlns:a16="http://schemas.microsoft.com/office/drawing/2014/main" id="{4B61CC4E-50CC-4E6D-9D64-7D53366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Future preservation path</a:t>
            </a:r>
          </a:p>
        </p:txBody>
      </p:sp>
      <p:sp>
        <p:nvSpPr>
          <p:cNvPr id="12" name="interop-future-7-body">
            <a:extLst xmlns:a="http://schemas.openxmlformats.org/drawingml/2006/main">
              <a:ext uri="{FF2B5EF4-FFF2-40B4-BE49-F238E27FC236}">
                <a16:creationId xmlns:a16="http://schemas.microsoft.com/office/drawing/2014/main" id="{37E6ACEE-0B75-45F5-910E-46ED3A89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933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PREMIS-style events, METS packaging, IIIF manifests, OAI-PMH, and JSON-LD can layer onto the same object and media model.</a:t>
            </a:r>
          </a:p>
        </p:txBody>
      </p:sp>
      <p:sp>
        <p:nvSpPr>
          <p:cNvPr id="13" name="interop-quality-7">
            <a:extLst xmlns:a="http://schemas.openxmlformats.org/drawingml/2006/main">
              <a:ext uri="{FF2B5EF4-FFF2-40B4-BE49-F238E27FC236}">
                <a16:creationId xmlns:a16="http://schemas.microsoft.com/office/drawing/2014/main" id="{CA56D88A-9C36-4052-9039-9108540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Quality gates: unique permanent ID, readable title, controlled object type, collection, normalized date range, authority separation, rights state, storage path, media derivative type, and SHA-256 checksum.</a:t>
            </a:r>
          </a:p>
        </p:txBody>
      </p:sp>
      <p:sp>
        <p:nvSpPr>
          <p:cNvPr id="1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79EF82A-D65C-4BC1-9AFD-152E7BC5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7">
            <a:extLst xmlns:a="http://schemas.openxmlformats.org/drawingml/2006/main">
              <a:ext uri="{FF2B5EF4-FFF2-40B4-BE49-F238E27FC236}">
                <a16:creationId xmlns:a16="http://schemas.microsoft.com/office/drawing/2014/main" id="{48A2FA35-C497-4CC9-82DD-B0430A1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AD3F05A0-69EA-4542-A052-982A0ADC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7862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A59EC8EB-70C6-42E4-B339-A0F7284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AI Intake is a reviewed staging lane, not auto-ingest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746BB6E0-CC64-4147-A386-AB9CC98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17185859-6695-4E7C-AD08-B724B7A5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workflow uses AI to accelerate description while keeping formal catalog writes under curator control.</a:t>
            </a:r>
          </a:p>
        </p:txBody>
      </p:sp>
      <p:sp>
        <p:nvSpPr>
          <p:cNvPr id="4" name="ai-step-0-8-node">
            <a:extLst xmlns:a="http://schemas.openxmlformats.org/drawingml/2006/main">
              <a:ext uri="{FF2B5EF4-FFF2-40B4-BE49-F238E27FC236}">
                <a16:creationId xmlns:a16="http://schemas.microsoft.com/office/drawing/2014/main" id="{D11E8472-04B2-432E-89BD-9E74E787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i-step-0-8-head">
            <a:extLst xmlns:a="http://schemas.openxmlformats.org/drawingml/2006/main">
              <a:ext uri="{FF2B5EF4-FFF2-40B4-BE49-F238E27FC236}">
                <a16:creationId xmlns:a16="http://schemas.microsoft.com/office/drawing/2014/main" id="{CB606006-11EB-47D4-8FD9-6F7E472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Upload</a:t>
            </a:r>
          </a:p>
        </p:txBody>
      </p:sp>
      <p:sp>
        <p:nvSpPr>
          <p:cNvPr id="6" name="ai-step-0-8-copy">
            <a:extLst xmlns:a="http://schemas.openxmlformats.org/drawingml/2006/main">
              <a:ext uri="{FF2B5EF4-FFF2-40B4-BE49-F238E27FC236}">
                <a16:creationId xmlns:a16="http://schemas.microsoft.com/office/drawing/2014/main" id="{1D6A4DDF-93C7-4221-B979-844C536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Admin uploads images or PDFs</a:t>
            </a:r>
          </a:p>
        </p:txBody>
      </p:sp>
      <p:sp>
        <p:nvSpPr>
          <p:cNvPr id="7" name="ai-arrow-0-8">
            <a:extLst xmlns:a="http://schemas.openxmlformats.org/drawingml/2006/main">
              <a:ext uri="{FF2B5EF4-FFF2-40B4-BE49-F238E27FC236}">
                <a16:creationId xmlns:a16="http://schemas.microsoft.com/office/drawing/2014/main" id="{F3AD8F68-0806-436D-9DD1-3712643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480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i-step-1-8-node">
            <a:extLst xmlns:a="http://schemas.openxmlformats.org/drawingml/2006/main">
              <a:ext uri="{FF2B5EF4-FFF2-40B4-BE49-F238E27FC236}">
                <a16:creationId xmlns:a16="http://schemas.microsoft.com/office/drawing/2014/main" id="{EB535B30-BB32-4950-B2C4-32A5548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i-step-1-8-head">
            <a:extLst xmlns:a="http://schemas.openxmlformats.org/drawingml/2006/main">
              <a:ext uri="{FF2B5EF4-FFF2-40B4-BE49-F238E27FC236}">
                <a16:creationId xmlns:a16="http://schemas.microsoft.com/office/drawing/2014/main" id="{E3DC3A07-50E0-4A9B-BC94-C81DE26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Stage</a:t>
            </a:r>
          </a:p>
        </p:txBody>
      </p:sp>
      <p:sp>
        <p:nvSpPr>
          <p:cNvPr id="10" name="ai-step-1-8-copy">
            <a:extLst xmlns:a="http://schemas.openxmlformats.org/drawingml/2006/main">
              <a:ext uri="{FF2B5EF4-FFF2-40B4-BE49-F238E27FC236}">
                <a16:creationId xmlns:a16="http://schemas.microsoft.com/office/drawing/2014/main" id="{E06B068E-DBF0-43C4-ABCC-9CCA4029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File lands in storage/intake/{id}</a:t>
            </a:r>
          </a:p>
        </p:txBody>
      </p:sp>
      <p:sp>
        <p:nvSpPr>
          <p:cNvPr id="11" name="ai-arrow-1-8">
            <a:extLst xmlns:a="http://schemas.openxmlformats.org/drawingml/2006/main">
              <a:ext uri="{FF2B5EF4-FFF2-40B4-BE49-F238E27FC236}">
                <a16:creationId xmlns:a16="http://schemas.microsoft.com/office/drawing/2014/main" id="{3F0FC524-B724-4683-9310-F7382A81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-step-2-8-node">
            <a:extLst xmlns:a="http://schemas.openxmlformats.org/drawingml/2006/main">
              <a:ext uri="{FF2B5EF4-FFF2-40B4-BE49-F238E27FC236}">
                <a16:creationId xmlns:a16="http://schemas.microsoft.com/office/drawing/2014/main" id="{5A5C4BB4-BFE6-43DB-80AA-E9C6C5D9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i-step-2-8-head">
            <a:extLst xmlns:a="http://schemas.openxmlformats.org/drawingml/2006/main">
              <a:ext uri="{FF2B5EF4-FFF2-40B4-BE49-F238E27FC236}">
                <a16:creationId xmlns:a16="http://schemas.microsoft.com/office/drawing/2014/main" id="{E641CF65-5142-4652-A8D4-7219B98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Draft</a:t>
            </a:r>
          </a:p>
        </p:txBody>
      </p:sp>
      <p:sp>
        <p:nvSpPr>
          <p:cNvPr id="14" name="ai-step-2-8-copy">
            <a:extLst xmlns:a="http://schemas.openxmlformats.org/drawingml/2006/main">
              <a:ext uri="{FF2B5EF4-FFF2-40B4-BE49-F238E27FC236}">
                <a16:creationId xmlns:a16="http://schemas.microsoft.com/office/drawing/2014/main" id="{A72E361B-D44E-44EB-894E-2AD46307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Mock analyzer suggests metadata from filename, type, size, checksum</a:t>
            </a:r>
          </a:p>
        </p:txBody>
      </p:sp>
      <p:sp>
        <p:nvSpPr>
          <p:cNvPr id="15" name="ai-arrow-2-8">
            <a:extLst xmlns:a="http://schemas.openxmlformats.org/drawingml/2006/main">
              <a:ext uri="{FF2B5EF4-FFF2-40B4-BE49-F238E27FC236}">
                <a16:creationId xmlns:a16="http://schemas.microsoft.com/office/drawing/2014/main" id="{F854CCBA-1114-49EA-B884-CBD67CBB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i-step-3-8-node">
            <a:extLst xmlns:a="http://schemas.openxmlformats.org/drawingml/2006/main">
              <a:ext uri="{FF2B5EF4-FFF2-40B4-BE49-F238E27FC236}">
                <a16:creationId xmlns:a16="http://schemas.microsoft.com/office/drawing/2014/main" id="{E4CC77B7-2672-48E3-86A6-862DB7EF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i-step-3-8-head">
            <a:extLst xmlns:a="http://schemas.openxmlformats.org/drawingml/2006/main">
              <a:ext uri="{FF2B5EF4-FFF2-40B4-BE49-F238E27FC236}">
                <a16:creationId xmlns:a16="http://schemas.microsoft.com/office/drawing/2014/main" id="{19AEF82C-5522-4CDB-815C-1302BE0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18" name="ai-step-3-8-copy">
            <a:extLst xmlns:a="http://schemas.openxmlformats.org/drawingml/2006/main">
              <a:ext uri="{FF2B5EF4-FFF2-40B4-BE49-F238E27FC236}">
                <a16:creationId xmlns:a16="http://schemas.microsoft.com/office/drawing/2014/main" id="{0571D940-96E0-451D-A9DF-3EDB354B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Curator edits title, rights, places, events, notes</a:t>
            </a:r>
          </a:p>
        </p:txBody>
      </p:sp>
      <p:sp>
        <p:nvSpPr>
          <p:cNvPr id="19" name="ai-arrow-3-8">
            <a:extLst xmlns:a="http://schemas.openxmlformats.org/drawingml/2006/main">
              <a:ext uri="{FF2B5EF4-FFF2-40B4-BE49-F238E27FC236}">
                <a16:creationId xmlns:a16="http://schemas.microsoft.com/office/drawing/2014/main" id="{77C867AE-EF20-45B5-8B1A-7AE697F8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i-step-4-8-node">
            <a:extLst xmlns:a="http://schemas.openxmlformats.org/drawingml/2006/main">
              <a:ext uri="{FF2B5EF4-FFF2-40B4-BE49-F238E27FC236}">
                <a16:creationId xmlns:a16="http://schemas.microsoft.com/office/drawing/2014/main" id="{EE41A244-F679-44A8-A656-4624355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i-step-4-8-head">
            <a:extLst xmlns:a="http://schemas.openxmlformats.org/drawingml/2006/main">
              <a:ext uri="{FF2B5EF4-FFF2-40B4-BE49-F238E27FC236}">
                <a16:creationId xmlns:a16="http://schemas.microsoft.com/office/drawing/2014/main" id="{A72D68E9-8925-4795-AD4A-802C1E47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Submit</a:t>
            </a:r>
          </a:p>
        </p:txBody>
      </p:sp>
      <p:sp>
        <p:nvSpPr>
          <p:cNvPr id="22" name="ai-step-4-8-copy">
            <a:extLst xmlns:a="http://schemas.openxmlformats.org/drawingml/2006/main">
              <a:ext uri="{FF2B5EF4-FFF2-40B4-BE49-F238E27FC236}">
                <a16:creationId xmlns:a16="http://schemas.microsoft.com/office/drawing/2014/main" id="{D5F9E088-93EE-4C4B-AB05-7E846F73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Create new object or attach to existing object</a:t>
            </a:r>
          </a:p>
        </p:txBody>
      </p:sp>
      <p:sp>
        <p:nvSpPr>
          <p:cNvPr id="23" name="ai-arrow-4-8">
            <a:extLst xmlns:a="http://schemas.openxmlformats.org/drawingml/2006/main">
              <a:ext uri="{FF2B5EF4-FFF2-40B4-BE49-F238E27FC236}">
                <a16:creationId xmlns:a16="http://schemas.microsoft.com/office/drawing/2014/main" id="{F8C0B545-4DC7-4223-AE5E-05E20569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i-step-5-8-node">
            <a:extLst xmlns:a="http://schemas.openxmlformats.org/drawingml/2006/main">
              <a:ext uri="{FF2B5EF4-FFF2-40B4-BE49-F238E27FC236}">
                <a16:creationId xmlns:a16="http://schemas.microsoft.com/office/drawing/2014/main" id="{7C21CA0C-2979-4588-91B1-1C6068E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1695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ai-step-5-8-head">
            <a:extLst xmlns:a="http://schemas.openxmlformats.org/drawingml/2006/main">
              <a:ext uri="{FF2B5EF4-FFF2-40B4-BE49-F238E27FC236}">
                <a16:creationId xmlns:a16="http://schemas.microsoft.com/office/drawing/2014/main" id="{377C8B4D-7B34-4305-8772-4520C59A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Persist</a:t>
            </a:r>
          </a:p>
        </p:txBody>
      </p:sp>
      <p:sp>
        <p:nvSpPr>
          <p:cNvPr id="26" name="ai-step-5-8-copy">
            <a:extLst xmlns:a="http://schemas.openxmlformats.org/drawingml/2006/main">
              <a:ext uri="{FF2B5EF4-FFF2-40B4-BE49-F238E27FC236}">
                <a16:creationId xmlns:a16="http://schemas.microsoft.com/office/drawing/2014/main" id="{0B90C0EB-892C-450F-BFBB-B71D8CB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Copy file to archive-master and log audit trail</a:t>
            </a:r>
          </a:p>
        </p:txBody>
      </p:sp>
      <p:sp>
        <p:nvSpPr>
          <p:cNvPr id="27" name="ai-data-8-box">
            <a:extLst xmlns:a="http://schemas.openxmlformats.org/drawingml/2006/main">
              <a:ext uri="{FF2B5EF4-FFF2-40B4-BE49-F238E27FC236}">
                <a16:creationId xmlns:a16="http://schemas.microsoft.com/office/drawing/2014/main" id="{2ED37CEA-E2C5-4AC0-A66B-E4BCE3B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ai-data-8-heading">
            <a:extLst xmlns:a="http://schemas.openxmlformats.org/drawingml/2006/main">
              <a:ext uri="{FF2B5EF4-FFF2-40B4-BE49-F238E27FC236}">
                <a16:creationId xmlns:a16="http://schemas.microsoft.com/office/drawing/2014/main" id="{80FC68F1-60A8-4E73-9B86-C9933C23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Data captured in V1</a:t>
            </a:r>
          </a:p>
        </p:txBody>
      </p:sp>
      <p:sp>
        <p:nvSpPr>
          <p:cNvPr id="29" name="ai-data-8-body">
            <a:extLst xmlns:a="http://schemas.openxmlformats.org/drawingml/2006/main">
              <a:ext uri="{FF2B5EF4-FFF2-40B4-BE49-F238E27FC236}">
                <a16:creationId xmlns:a16="http://schemas.microsoft.com/office/drawing/2014/main" id="{1933C854-E8AD-4AF2-A83F-E6CDDC7E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intake status, original filename, media type, staged path, checksum, AI suggestion JSON, edited JSON, submitted object ID, audit rows.</a:t>
            </a:r>
          </a:p>
        </p:txBody>
      </p:sp>
      <p:sp>
        <p:nvSpPr>
          <p:cNvPr id="30" name="ai-backlog-8-box">
            <a:extLst xmlns:a="http://schemas.openxmlformats.org/drawingml/2006/main">
              <a:ext uri="{FF2B5EF4-FFF2-40B4-BE49-F238E27FC236}">
                <a16:creationId xmlns:a16="http://schemas.microsoft.com/office/drawing/2014/main" id="{098E85D3-6AB8-40F3-A20A-377499EC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ai-backlog-8-heading">
            <a:extLst xmlns:a="http://schemas.openxmlformats.org/drawingml/2006/main">
              <a:ext uri="{FF2B5EF4-FFF2-40B4-BE49-F238E27FC236}">
                <a16:creationId xmlns:a16="http://schemas.microsoft.com/office/drawing/2014/main" id="{0F5F98A5-1346-4365-B338-9BDA620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Next design step</a:t>
            </a:r>
          </a:p>
        </p:txBody>
      </p:sp>
      <p:sp>
        <p:nvSpPr>
          <p:cNvPr id="32" name="ai-backlog-8-body">
            <a:extLst xmlns:a="http://schemas.openxmlformats.org/drawingml/2006/main">
              <a:ext uri="{FF2B5EF4-FFF2-40B4-BE49-F238E27FC236}">
                <a16:creationId xmlns:a16="http://schemas.microsoft.com/office/drawing/2014/main" id="{4DA11DD0-720D-4860-9044-47A775E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Preserve which fields came from AI, which were curator-reviewed, and the confidence or evidence package after submit.</a:t>
            </a:r>
          </a:p>
        </p:txBody>
      </p:sp>
      <p:sp>
        <p:nvSpPr>
          <p:cNvPr id="3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1FC630D9-528B-4EF2-A004-97E659C7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8">
            <a:extLst xmlns:a="http://schemas.openxmlformats.org/drawingml/2006/main">
              <a:ext uri="{FF2B5EF4-FFF2-40B4-BE49-F238E27FC236}">
                <a16:creationId xmlns:a16="http://schemas.microsoft.com/office/drawing/2014/main" id="{80C8CE00-4488-4652-AE5E-4E81852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3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50C55633-2077-48D3-B05D-5C40DC8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1010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D0675D2C-6B88-495D-92B6-BF3401F5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Vision and backlog clarify what V1 proves next</a:t>
            </a:r>
          </a:p>
        </p:txBody>
      </p:sp>
      <p:sp>
        <p:nvSpPr>
          <p:cNvPr id="2" name="accent-9">
            <a:extLst xmlns:a="http://schemas.openxmlformats.org/drawingml/2006/main">
              <a:ext uri="{FF2B5EF4-FFF2-40B4-BE49-F238E27FC236}">
                <a16:creationId xmlns:a16="http://schemas.microsoft.com/office/drawing/2014/main" id="{C2C59F0F-290F-4CE1-ACDA-53E5F02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CE03330C-5502-4CAE-9981-E53D33E0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The demo validates the core model while leaving production portal and preservation depth for later phases.</a:t>
            </a:r>
          </a:p>
        </p:txBody>
      </p:sp>
      <p:sp>
        <p:nvSpPr>
          <p:cNvPr id="4" name="backlog-dot-0-9">
            <a:extLst xmlns:a="http://schemas.openxmlformats.org/drawingml/2006/main">
              <a:ext uri="{FF2B5EF4-FFF2-40B4-BE49-F238E27FC236}">
                <a16:creationId xmlns:a16="http://schemas.microsoft.com/office/drawing/2014/main" id="{3F227A4B-5097-4716-8B25-EE6DFBD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cklog-head-0-9">
            <a:extLst xmlns:a="http://schemas.openxmlformats.org/drawingml/2006/main">
              <a:ext uri="{FF2B5EF4-FFF2-40B4-BE49-F238E27FC236}">
                <a16:creationId xmlns:a16="http://schemas.microsoft.com/office/drawing/2014/main" id="{2889EE10-58EC-48F6-AC22-3144D1B4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Access policy enforcement</a:t>
            </a:r>
          </a:p>
        </p:txBody>
      </p:sp>
      <p:sp>
        <p:nvSpPr>
          <p:cNvPr id="6" name="backlog-body-0-9">
            <a:extLst xmlns:a="http://schemas.openxmlformats.org/drawingml/2006/main">
              <a:ext uri="{FF2B5EF4-FFF2-40B4-BE49-F238E27FC236}">
                <a16:creationId xmlns:a16="http://schemas.microsoft.com/office/drawing/2014/main" id="{862BF2DF-97E4-4CA1-B8B1-0898B0AD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Drive public delivery from access_rights, review state, and publication state, not only descriptive rights.</a:t>
            </a:r>
          </a:p>
        </p:txBody>
      </p:sp>
      <p:sp>
        <p:nvSpPr>
          <p:cNvPr id="7" name="backlog-dot-1-9">
            <a:extLst xmlns:a="http://schemas.openxmlformats.org/drawingml/2006/main">
              <a:ext uri="{FF2B5EF4-FFF2-40B4-BE49-F238E27FC236}">
                <a16:creationId xmlns:a16="http://schemas.microsoft.com/office/drawing/2014/main" id="{F50C624E-0190-42D0-8420-D642226C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cklog-head-1-9">
            <a:extLst xmlns:a="http://schemas.openxmlformats.org/drawingml/2006/main">
              <a:ext uri="{FF2B5EF4-FFF2-40B4-BE49-F238E27FC236}">
                <a16:creationId xmlns:a16="http://schemas.microsoft.com/office/drawing/2014/main" id="{494A7116-DAC9-4340-A0B3-6103218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Review and publication state</a:t>
            </a:r>
          </a:p>
        </p:txBody>
      </p:sp>
      <p:sp>
        <p:nvSpPr>
          <p:cNvPr id="9" name="backlog-body-1-9">
            <a:extLst xmlns:a="http://schemas.openxmlformats.org/drawingml/2006/main">
              <a:ext uri="{FF2B5EF4-FFF2-40B4-BE49-F238E27FC236}">
                <a16:creationId xmlns:a16="http://schemas.microsoft.com/office/drawing/2014/main" id="{08A13252-911E-4DBB-B6D0-057C41A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Add object-level review_status, publication_status, and sensitivity for future public search/export.</a:t>
            </a:r>
          </a:p>
        </p:txBody>
      </p:sp>
      <p:sp>
        <p:nvSpPr>
          <p:cNvPr id="10" name="backlog-dot-2-9">
            <a:extLst xmlns:a="http://schemas.openxmlformats.org/drawingml/2006/main">
              <a:ext uri="{FF2B5EF4-FFF2-40B4-BE49-F238E27FC236}">
                <a16:creationId xmlns:a16="http://schemas.microsoft.com/office/drawing/2014/main" id="{F3B53F8A-72A6-4FBF-BDA3-7E1ABAA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cklog-head-2-9">
            <a:extLst xmlns:a="http://schemas.openxmlformats.org/drawingml/2006/main">
              <a:ext uri="{FF2B5EF4-FFF2-40B4-BE49-F238E27FC236}">
                <a16:creationId xmlns:a16="http://schemas.microsoft.com/office/drawing/2014/main" id="{EEF23230-C607-4E51-B191-E3B5934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AI provenance</a:t>
            </a:r>
          </a:p>
        </p:txBody>
      </p:sp>
      <p:sp>
        <p:nvSpPr>
          <p:cNvPr id="12" name="backlog-body-2-9">
            <a:extLst xmlns:a="http://schemas.openxmlformats.org/drawingml/2006/main">
              <a:ext uri="{FF2B5EF4-FFF2-40B4-BE49-F238E27FC236}">
                <a16:creationId xmlns:a16="http://schemas.microsoft.com/office/drawing/2014/main" id="{713FFA3E-7F80-4E54-8D7D-09E4B2F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Keep AI-origin, curator-reviewed fields, confidence, and evidence after an intake draft becomes a catalog object.</a:t>
            </a:r>
          </a:p>
        </p:txBody>
      </p:sp>
      <p:sp>
        <p:nvSpPr>
          <p:cNvPr id="13" name="backlog-dot-3-9">
            <a:extLst xmlns:a="http://schemas.openxmlformats.org/drawingml/2006/main">
              <a:ext uri="{FF2B5EF4-FFF2-40B4-BE49-F238E27FC236}">
                <a16:creationId xmlns:a16="http://schemas.microsoft.com/office/drawing/2014/main" id="{281AD39F-A68C-4665-BEEF-53E00F0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cklog-head-3-9">
            <a:extLst xmlns:a="http://schemas.openxmlformats.org/drawingml/2006/main">
              <a:ext uri="{FF2B5EF4-FFF2-40B4-BE49-F238E27FC236}">
                <a16:creationId xmlns:a16="http://schemas.microsoft.com/office/drawing/2014/main" id="{6739C926-3D2B-4C99-A8C4-086A62BF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Preservation events</a:t>
            </a:r>
          </a:p>
        </p:txBody>
      </p:sp>
      <p:sp>
        <p:nvSpPr>
          <p:cNvPr id="15" name="backlog-body-3-9">
            <a:extLst xmlns:a="http://schemas.openxmlformats.org/drawingml/2006/main">
              <a:ext uri="{FF2B5EF4-FFF2-40B4-BE49-F238E27FC236}">
                <a16:creationId xmlns:a16="http://schemas.microsoft.com/office/drawing/2014/main" id="{F390FA19-65E9-451F-B334-DA872135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Add PREMIS-style ingest, checksum, fixity, derivative, migration, and provenance events.</a:t>
            </a:r>
          </a:p>
        </p:txBody>
      </p:sp>
      <p:sp>
        <p:nvSpPr>
          <p:cNvPr id="16" name="backlog-dot-4-9">
            <a:extLst xmlns:a="http://schemas.openxmlformats.org/drawingml/2006/main">
              <a:ext uri="{FF2B5EF4-FFF2-40B4-BE49-F238E27FC236}">
                <a16:creationId xmlns:a16="http://schemas.microsoft.com/office/drawing/2014/main" id="{C0A28756-4305-4B13-9A94-DF1CCB2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cklog-head-4-9">
            <a:extLst xmlns:a="http://schemas.openxmlformats.org/drawingml/2006/main">
              <a:ext uri="{FF2B5EF4-FFF2-40B4-BE49-F238E27FC236}">
                <a16:creationId xmlns:a16="http://schemas.microsoft.com/office/drawing/2014/main" id="{3C57D149-113C-47E4-9420-C85A087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Public portal scale</a:t>
            </a:r>
          </a:p>
        </p:txBody>
      </p:sp>
      <p:sp>
        <p:nvSpPr>
          <p:cNvPr id="18" name="backlog-body-4-9">
            <a:extLst xmlns:a="http://schemas.openxmlformats.org/drawingml/2006/main">
              <a:ext uri="{FF2B5EF4-FFF2-40B4-BE49-F238E27FC236}">
                <a16:creationId xmlns:a16="http://schemas.microsoft.com/office/drawing/2014/main" id="{321585AC-C722-4494-B55F-7489A0A3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Layer in OpenSearch, OCR/transcripts, IIIF/PDF/AV viewer, OAI-PMH, citation/export, maps, and timelines.</a:t>
            </a:r>
          </a:p>
        </p:txBody>
      </p:sp>
      <p:sp>
        <p:nvSpPr>
          <p:cNvPr id="19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38EAE5F8-6765-4B57-B016-C1B7A4F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9">
            <a:extLst xmlns:a="http://schemas.openxmlformats.org/drawingml/2006/main">
              <a:ext uri="{FF2B5EF4-FFF2-40B4-BE49-F238E27FC236}">
                <a16:creationId xmlns:a16="http://schemas.microsoft.com/office/drawing/2014/main" id="{0DE8EC3D-6B57-4592-B057-07C58C9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21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A805D813-17F9-4C94-9963-54FDE7BB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3881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9FBAADC3-9306-4744-A2C4-AE6B0DA9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Start at the local URL and sign in as admin</a:t>
            </a:r>
          </a:p>
        </p:txBody>
      </p:sp>
      <p:sp>
        <p:nvSpPr>
          <p:cNvPr id="2" name="accent-10">
            <a:extLst xmlns:a="http://schemas.openxmlformats.org/drawingml/2006/main">
              <a:ext uri="{FF2B5EF4-FFF2-40B4-BE49-F238E27FC236}">
                <a16:creationId xmlns:a16="http://schemas.microsoft.com/office/drawing/2014/main" id="{DEEA53E9-4734-422C-92D6-3C7C015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0">
            <a:extLst xmlns:a="http://schemas.openxmlformats.org/drawingml/2006/main">
              <a:ext uri="{FF2B5EF4-FFF2-40B4-BE49-F238E27FC236}">
                <a16:creationId xmlns:a16="http://schemas.microsoft.com/office/drawing/2014/main" id="{0EF555BD-F75F-4FE9-8487-ADD2554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0">
            <a:extLst xmlns:a="http://schemas.openxmlformats.org/drawingml/2006/main">
              <a:ext uri="{FF2B5EF4-FFF2-40B4-BE49-F238E27FC236}">
                <a16:creationId xmlns:a16="http://schemas.microsoft.com/office/drawing/2014/main" id="{EA0DEF46-D649-4BA5-BB5F-AA9D5CD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http://127.0.0.1:8787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Use admin / admin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Keep viewer / viewer ready for the permission check</a:t>
            </a:r>
          </a:p>
        </p:txBody>
      </p:sp>
      <p:sp>
        <p:nvSpPr>
          <p:cNvPr id="5" name="expected-label-10">
            <a:extLst xmlns:a="http://schemas.openxmlformats.org/drawingml/2006/main">
              <a:ext uri="{FF2B5EF4-FFF2-40B4-BE49-F238E27FC236}">
                <a16:creationId xmlns:a16="http://schemas.microsoft.com/office/drawing/2014/main" id="{D604B64C-F940-40AE-BF4A-E2B26AD5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0">
            <a:extLst xmlns:a="http://schemas.openxmlformats.org/drawingml/2006/main">
              <a:ext uri="{FF2B5EF4-FFF2-40B4-BE49-F238E27FC236}">
                <a16:creationId xmlns:a16="http://schemas.microsoft.com/office/drawing/2014/main" id="{65A9B33C-BAA3-4727-953E-3746E12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Login form is visible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Both demo credentials are shown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Successful sign-in opens the Catalog tab</a:t>
            </a:r>
          </a:p>
        </p:txBody>
      </p:sp>
      <p:sp>
        <p:nvSpPr>
          <p:cNvPr id="7" name="why-label-10">
            <a:extLst xmlns:a="http://schemas.openxmlformats.org/drawingml/2006/main">
              <a:ext uri="{FF2B5EF4-FFF2-40B4-BE49-F238E27FC236}">
                <a16:creationId xmlns:a16="http://schemas.microsoft.com/office/drawing/2014/main" id="{C0252249-DA47-483F-8690-11DC874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0">
            <a:extLst xmlns:a="http://schemas.openxmlformats.org/drawingml/2006/main">
              <a:ext uri="{FF2B5EF4-FFF2-40B4-BE49-F238E27FC236}">
                <a16:creationId xmlns:a16="http://schemas.microsoft.com/office/drawing/2014/main" id="{16CFEA15-2368-4693-A327-5F826D88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Start with the simplest happy path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Admin session unlocks write workflows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Viewer login tees up the boundary test</a:t>
            </a:r>
          </a:p>
        </p:txBody>
      </p:sp>
      <p:sp>
        <p:nvSpPr>
          <p:cNvPr id="9" name="image-panel-10">
            <a:extLst xmlns:a="http://schemas.openxmlformats.org/drawingml/2006/main">
              <a:ext uri="{FF2B5EF4-FFF2-40B4-BE49-F238E27FC236}">
                <a16:creationId xmlns:a16="http://schemas.microsoft.com/office/drawing/2014/main" id="{B848FB8F-4E06-4685-BD22-A4EF74CF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1cb145c164934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AE6EF94B-5725-49E5-8386-B99FBB43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0">
            <a:extLst xmlns:a="http://schemas.openxmlformats.org/drawingml/2006/main">
              <a:ext uri="{FF2B5EF4-FFF2-40B4-BE49-F238E27FC236}">
                <a16:creationId xmlns:a16="http://schemas.microsoft.com/office/drawing/2014/main" id="{8CD93B39-C266-4F80-9F08-6E2D58C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DCE8CAFA-1DDC-4142-B68E-E4BCFD4D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5756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F2205247-C74D-4B0E-95E2-D6CC72A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Catalog proves seeded records are searchable</a:t>
            </a:r>
          </a:p>
        </p:txBody>
      </p:sp>
      <p:sp>
        <p:nvSpPr>
          <p:cNvPr id="2" name="accent-11">
            <a:extLst xmlns:a="http://schemas.openxmlformats.org/drawingml/2006/main">
              <a:ext uri="{FF2B5EF4-FFF2-40B4-BE49-F238E27FC236}">
                <a16:creationId xmlns:a16="http://schemas.microsoft.com/office/drawing/2014/main" id="{4B3DB7A3-8A27-48D6-963E-CB428D22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1">
            <a:extLst xmlns:a="http://schemas.openxmlformats.org/drawingml/2006/main">
              <a:ext uri="{FF2B5EF4-FFF2-40B4-BE49-F238E27FC236}">
                <a16:creationId xmlns:a16="http://schemas.microsoft.com/office/drawing/2014/main" id="{9B3DCA62-F671-4797-80E9-F8BDE9D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1">
            <a:extLst xmlns:a="http://schemas.openxmlformats.org/drawingml/2006/main">
              <a:ext uri="{FF2B5EF4-FFF2-40B4-BE49-F238E27FC236}">
                <a16:creationId xmlns:a16="http://schemas.microsoft.com/office/drawing/2014/main" id="{E3C4915B-2508-4C63-878B-C2BA370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Set Place to Manila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Set Event to Battle of Manila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Select MNA-000123 in the result list</a:t>
            </a:r>
          </a:p>
        </p:txBody>
      </p:sp>
      <p:sp>
        <p:nvSpPr>
          <p:cNvPr id="5" name="expected-label-11">
            <a:extLst xmlns:a="http://schemas.openxmlformats.org/drawingml/2006/main">
              <a:ext uri="{FF2B5EF4-FFF2-40B4-BE49-F238E27FC236}">
                <a16:creationId xmlns:a16="http://schemas.microsoft.com/office/drawing/2014/main" id="{7C32F0AA-0207-4435-B0CA-5C24BBB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1">
            <a:extLst xmlns:a="http://schemas.openxmlformats.org/drawingml/2006/main">
              <a:ext uri="{FF2B5EF4-FFF2-40B4-BE49-F238E27FC236}">
                <a16:creationId xmlns:a16="http://schemas.microsoft.com/office/drawing/2014/main" id="{80A9C376-5DA1-4FFE-A8E4-3E28FD3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Filtered list includes Soldier portrait, Manila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The selected detail panel opens on the right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Summary metrics remain visible above the workspace</a:t>
            </a:r>
          </a:p>
        </p:txBody>
      </p:sp>
      <p:sp>
        <p:nvSpPr>
          <p:cNvPr id="7" name="why-label-11">
            <a:extLst xmlns:a="http://schemas.openxmlformats.org/drawingml/2006/main">
              <a:ext uri="{FF2B5EF4-FFF2-40B4-BE49-F238E27FC236}">
                <a16:creationId xmlns:a16="http://schemas.microsoft.com/office/drawing/2014/main" id="{FF840A5D-A108-43EA-A308-01D0AEFC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1">
            <a:extLst xmlns:a="http://schemas.openxmlformats.org/drawingml/2006/main">
              <a:ext uri="{FF2B5EF4-FFF2-40B4-BE49-F238E27FC236}">
                <a16:creationId xmlns:a16="http://schemas.microsoft.com/office/drawing/2014/main" id="{207AC73C-C196-416C-BCE7-D1EE17C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First demo claim is retrieval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Filters mirror curator research habits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Known seed record anchors the story</a:t>
            </a:r>
          </a:p>
        </p:txBody>
      </p:sp>
      <p:sp>
        <p:nvSpPr>
          <p:cNvPr id="9" name="image-panel-11">
            <a:extLst xmlns:a="http://schemas.openxmlformats.org/drawingml/2006/main">
              <a:ext uri="{FF2B5EF4-FFF2-40B4-BE49-F238E27FC236}">
                <a16:creationId xmlns:a16="http://schemas.microsoft.com/office/drawing/2014/main" id="{B5815AF7-FB4B-400C-950C-C032C3D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ac26c73204e8e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115427E-0C1C-4D65-9996-B44C89C9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1">
            <a:extLst xmlns:a="http://schemas.openxmlformats.org/drawingml/2006/main">
              <a:ext uri="{FF2B5EF4-FFF2-40B4-BE49-F238E27FC236}">
                <a16:creationId xmlns:a16="http://schemas.microsoft.com/office/drawing/2014/main" id="{A6A6D59E-D98D-4F4D-A206-CC9B12F5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2904949F-A617-4F5A-93A9-47B976A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017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2F5F6E47-8CE0-4AF6-90C3-2E7B8F50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Record detail separates metadata families</a:t>
            </a:r>
          </a:p>
        </p:txBody>
      </p:sp>
      <p:sp>
        <p:nvSpPr>
          <p:cNvPr id="2" name="accent-12">
            <a:extLst xmlns:a="http://schemas.openxmlformats.org/drawingml/2006/main">
              <a:ext uri="{FF2B5EF4-FFF2-40B4-BE49-F238E27FC236}">
                <a16:creationId xmlns:a16="http://schemas.microsoft.com/office/drawing/2014/main" id="{1A54DF01-4F74-4E3B-A59A-BE69E7F2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2">
            <a:extLst xmlns:a="http://schemas.openxmlformats.org/drawingml/2006/main">
              <a:ext uri="{FF2B5EF4-FFF2-40B4-BE49-F238E27FC236}">
                <a16:creationId xmlns:a16="http://schemas.microsoft.com/office/drawing/2014/main" id="{D56E6307-8DB4-478C-8057-553FDC2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2">
            <a:extLst xmlns:a="http://schemas.openxmlformats.org/drawingml/2006/main">
              <a:ext uri="{FF2B5EF4-FFF2-40B4-BE49-F238E27FC236}">
                <a16:creationId xmlns:a16="http://schemas.microsoft.com/office/drawing/2014/main" id="{85F25FB0-14A1-4D84-9F82-046367D1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Stay on MNA-000123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Point to Physical Location, Relationships, and Taxonomy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Call out that this is the admin view</a:t>
            </a:r>
          </a:p>
        </p:txBody>
      </p:sp>
      <p:sp>
        <p:nvSpPr>
          <p:cNvPr id="5" name="expected-label-12">
            <a:extLst xmlns:a="http://schemas.openxmlformats.org/drawingml/2006/main">
              <a:ext uri="{FF2B5EF4-FFF2-40B4-BE49-F238E27FC236}">
                <a16:creationId xmlns:a16="http://schemas.microsoft.com/office/drawing/2014/main" id="{70322E93-5664-4565-992E-C26B606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2">
            <a:extLst xmlns:a="http://schemas.openxmlformats.org/drawingml/2006/main">
              <a:ext uri="{FF2B5EF4-FFF2-40B4-BE49-F238E27FC236}">
                <a16:creationId xmlns:a16="http://schemas.microsoft.com/office/drawing/2014/main" id="{AA1046DC-B7FE-46BF-9305-380809F1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Physical location is visible to admin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Relationships show Event, Organization, Person, and Place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Taxonomy shows Object Type and Subject terms</a:t>
            </a:r>
          </a:p>
        </p:txBody>
      </p:sp>
      <p:sp>
        <p:nvSpPr>
          <p:cNvPr id="7" name="why-label-12">
            <a:extLst xmlns:a="http://schemas.openxmlformats.org/drawingml/2006/main">
              <a:ext uri="{FF2B5EF4-FFF2-40B4-BE49-F238E27FC236}">
                <a16:creationId xmlns:a16="http://schemas.microsoft.com/office/drawing/2014/main" id="{9D38B4AA-44C2-4ED7-A977-2169F2B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2">
            <a:extLst xmlns:a="http://schemas.openxmlformats.org/drawingml/2006/main">
              <a:ext uri="{FF2B5EF4-FFF2-40B4-BE49-F238E27FC236}">
                <a16:creationId xmlns:a16="http://schemas.microsoft.com/office/drawing/2014/main" id="{5A2604BD-BA88-4109-A630-9C3C5C5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Detail page groups evidence by job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Admin sees stewardship-only fields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Checksums prove file-level integrity</a:t>
            </a:r>
          </a:p>
        </p:txBody>
      </p:sp>
      <p:sp>
        <p:nvSpPr>
          <p:cNvPr id="9" name="image-panel-12">
            <a:extLst xmlns:a="http://schemas.openxmlformats.org/drawingml/2006/main">
              <a:ext uri="{FF2B5EF4-FFF2-40B4-BE49-F238E27FC236}">
                <a16:creationId xmlns:a16="http://schemas.microsoft.com/office/drawing/2014/main" id="{24F4A00E-E9EE-4398-91E7-8570A645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1043a3da04683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76C68857-9B3C-4652-814D-BDCC4D33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2">
            <a:extLst xmlns:a="http://schemas.openxmlformats.org/drawingml/2006/main">
              <a:ext uri="{FF2B5EF4-FFF2-40B4-BE49-F238E27FC236}">
                <a16:creationId xmlns:a16="http://schemas.microsoft.com/office/drawing/2014/main" id="{79D2B0F9-8927-4FE5-8E4D-AD82E26C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3F4529C3-49CC-4DD9-8591-6EF8172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0143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328A4D89-18D3-4768-9E8F-7CF0346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Edit opens the full record form</a:t>
            </a:r>
          </a:p>
        </p:txBody>
      </p:sp>
      <p:sp>
        <p:nvSpPr>
          <p:cNvPr id="2" name="accent-13">
            <a:extLst xmlns:a="http://schemas.openxmlformats.org/drawingml/2006/main">
              <a:ext uri="{FF2B5EF4-FFF2-40B4-BE49-F238E27FC236}">
                <a16:creationId xmlns:a16="http://schemas.microsoft.com/office/drawing/2014/main" id="{B848801D-563F-4754-8552-A2C98DB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3">
            <a:extLst xmlns:a="http://schemas.openxmlformats.org/drawingml/2006/main">
              <a:ext uri="{FF2B5EF4-FFF2-40B4-BE49-F238E27FC236}">
                <a16:creationId xmlns:a16="http://schemas.microsoft.com/office/drawing/2014/main" id="{82AEE284-66FE-40D8-B449-441D7AE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3">
            <a:extLst xmlns:a="http://schemas.openxmlformats.org/drawingml/2006/main">
              <a:ext uri="{FF2B5EF4-FFF2-40B4-BE49-F238E27FC236}">
                <a16:creationId xmlns:a16="http://schemas.microsoft.com/office/drawing/2014/main" id="{AA41073F-627D-419F-8A2D-23EEEA63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Click Edit from the detail panel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Review required fields: Permanent ID, Title, Object Type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Show DC and Pacific War sections below</a:t>
            </a:r>
          </a:p>
        </p:txBody>
      </p:sp>
      <p:sp>
        <p:nvSpPr>
          <p:cNvPr id="5" name="expected-label-13">
            <a:extLst xmlns:a="http://schemas.openxmlformats.org/drawingml/2006/main">
              <a:ext uri="{FF2B5EF4-FFF2-40B4-BE49-F238E27FC236}">
                <a16:creationId xmlns:a16="http://schemas.microsoft.com/office/drawing/2014/main" id="{B699B4A9-6FA6-45A5-B430-A37C37E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3">
            <a:extLst xmlns:a="http://schemas.openxmlformats.org/drawingml/2006/main">
              <a:ext uri="{FF2B5EF4-FFF2-40B4-BE49-F238E27FC236}">
                <a16:creationId xmlns:a16="http://schemas.microsoft.com/office/drawing/2014/main" id="{0AA18746-1D86-4480-98B4-9B1153CC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Record tab opens with populated values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Admin controls are enabled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The form preserves structured metadata fields</a:t>
            </a:r>
          </a:p>
        </p:txBody>
      </p:sp>
      <p:sp>
        <p:nvSpPr>
          <p:cNvPr id="7" name="why-label-13">
            <a:extLst xmlns:a="http://schemas.openxmlformats.org/drawingml/2006/main">
              <a:ext uri="{FF2B5EF4-FFF2-40B4-BE49-F238E27FC236}">
                <a16:creationId xmlns:a16="http://schemas.microsoft.com/office/drawing/2014/main" id="{E917DF29-8B8B-4DFA-9439-AB3E06D1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3">
            <a:extLst xmlns:a="http://schemas.openxmlformats.org/drawingml/2006/main">
              <a:ext uri="{FF2B5EF4-FFF2-40B4-BE49-F238E27FC236}">
                <a16:creationId xmlns:a16="http://schemas.microsoft.com/office/drawing/2014/main" id="{D987C121-4F2A-48B6-98E4-A4DFCFAD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Editing stays close to the record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Required fields protect identity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Domain sections keep long metadata scannable</a:t>
            </a:r>
          </a:p>
        </p:txBody>
      </p:sp>
      <p:sp>
        <p:nvSpPr>
          <p:cNvPr id="9" name="image-panel-13">
            <a:extLst xmlns:a="http://schemas.openxmlformats.org/drawingml/2006/main">
              <a:ext uri="{FF2B5EF4-FFF2-40B4-BE49-F238E27FC236}">
                <a16:creationId xmlns:a16="http://schemas.microsoft.com/office/drawing/2014/main" id="{E58DDEF4-4E15-4B85-83D6-283839A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2c5d2ef4144ba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6C59A30D-350E-428A-948D-BCC7904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3">
            <a:extLst xmlns:a="http://schemas.openxmlformats.org/drawingml/2006/main">
              <a:ext uri="{FF2B5EF4-FFF2-40B4-BE49-F238E27FC236}">
                <a16:creationId xmlns:a16="http://schemas.microsoft.com/office/drawing/2014/main" id="{4EB88F05-3C1B-4048-9FC1-DC3A89A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7D580D7D-3731-4B26-B523-4D325A0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774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43031705-889E-4575-80FA-ECD243C1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Authorities and taxonomy keep terms controlled</a:t>
            </a:r>
          </a:p>
        </p:txBody>
      </p:sp>
      <p:sp>
        <p:nvSpPr>
          <p:cNvPr id="2" name="accent-14">
            <a:extLst xmlns:a="http://schemas.openxmlformats.org/drawingml/2006/main">
              <a:ext uri="{FF2B5EF4-FFF2-40B4-BE49-F238E27FC236}">
                <a16:creationId xmlns:a16="http://schemas.microsoft.com/office/drawing/2014/main" id="{8DA9661A-65F5-41B7-9A6F-9D68E49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4">
            <a:extLst xmlns:a="http://schemas.openxmlformats.org/drawingml/2006/main">
              <a:ext uri="{FF2B5EF4-FFF2-40B4-BE49-F238E27FC236}">
                <a16:creationId xmlns:a16="http://schemas.microsoft.com/office/drawing/2014/main" id="{71DC78C2-0733-47C2-8D1F-5FCEE96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4">
            <a:extLst xmlns:a="http://schemas.openxmlformats.org/drawingml/2006/main">
              <a:ext uri="{FF2B5EF4-FFF2-40B4-BE49-F238E27FC236}">
                <a16:creationId xmlns:a16="http://schemas.microsoft.com/office/drawing/2014/main" id="{E8C27B83-7B5F-4C11-A3B4-CB70598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Authorities tab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Inspect John Smith, U.S. Army, Manila, and Battle of Manila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Scan taxonomy vocabularies</a:t>
            </a:r>
          </a:p>
        </p:txBody>
      </p:sp>
      <p:sp>
        <p:nvSpPr>
          <p:cNvPr id="5" name="expected-label-14">
            <a:extLst xmlns:a="http://schemas.openxmlformats.org/drawingml/2006/main">
              <a:ext uri="{FF2B5EF4-FFF2-40B4-BE49-F238E27FC236}">
                <a16:creationId xmlns:a16="http://schemas.microsoft.com/office/drawing/2014/main" id="{37D6C7B2-422B-4E9D-B9CF-B921BE8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4">
            <a:extLst xmlns:a="http://schemas.openxmlformats.org/drawingml/2006/main">
              <a:ext uri="{FF2B5EF4-FFF2-40B4-BE49-F238E27FC236}">
                <a16:creationId xmlns:a16="http://schemas.microsoft.com/office/drawing/2014/main" id="{2D7C0407-DC93-41B5-B79A-932EB124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Authorities are grouped by type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Subject terms such as WWII remain taxonomy terms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Pacific War vocabularies are available</a:t>
            </a:r>
          </a:p>
        </p:txBody>
      </p:sp>
      <p:sp>
        <p:nvSpPr>
          <p:cNvPr id="7" name="why-label-14">
            <a:extLst xmlns:a="http://schemas.openxmlformats.org/drawingml/2006/main">
              <a:ext uri="{FF2B5EF4-FFF2-40B4-BE49-F238E27FC236}">
                <a16:creationId xmlns:a16="http://schemas.microsoft.com/office/drawing/2014/main" id="{6E20CD03-F45C-4841-A3A3-6D92BBB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4">
            <a:extLst xmlns:a="http://schemas.openxmlformats.org/drawingml/2006/main">
              <a:ext uri="{FF2B5EF4-FFF2-40B4-BE49-F238E27FC236}">
                <a16:creationId xmlns:a16="http://schemas.microsoft.com/office/drawing/2014/main" id="{491E2F53-AF02-40A4-9626-DD0F4F87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Names and subjects have different jobs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Controlled terms reduce drift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The model supports archive-specific vocabularies</a:t>
            </a:r>
          </a:p>
        </p:txBody>
      </p:sp>
      <p:sp>
        <p:nvSpPr>
          <p:cNvPr id="9" name="image-panel-14">
            <a:extLst xmlns:a="http://schemas.openxmlformats.org/drawingml/2006/main">
              <a:ext uri="{FF2B5EF4-FFF2-40B4-BE49-F238E27FC236}">
                <a16:creationId xmlns:a16="http://schemas.microsoft.com/office/drawing/2014/main" id="{A837CF7B-8245-4C13-A65D-DC8A9720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7ff9e426f4285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0E3395DF-DFA4-456D-92C1-17E2CF7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4">
            <a:extLst xmlns:a="http://schemas.openxmlformats.org/drawingml/2006/main">
              <a:ext uri="{FF2B5EF4-FFF2-40B4-BE49-F238E27FC236}">
                <a16:creationId xmlns:a16="http://schemas.microsoft.com/office/drawing/2014/main" id="{6968C8C4-95CB-4647-8348-A00B3DF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41BB332D-D09B-4A64-9B78-91206BD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064040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0A2174F-A2A0-4741-A1AA-A989A5C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Physical storage is a structured admin view</a:t>
            </a:r>
          </a:p>
        </p:txBody>
      </p:sp>
      <p:sp>
        <p:nvSpPr>
          <p:cNvPr id="2" name="accent-15">
            <a:extLst xmlns:a="http://schemas.openxmlformats.org/drawingml/2006/main">
              <a:ext uri="{FF2B5EF4-FFF2-40B4-BE49-F238E27FC236}">
                <a16:creationId xmlns:a16="http://schemas.microsoft.com/office/drawing/2014/main" id="{DEEACE6C-BEB1-4E62-90B0-258C8347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5">
            <a:extLst xmlns:a="http://schemas.openxmlformats.org/drawingml/2006/main">
              <a:ext uri="{FF2B5EF4-FFF2-40B4-BE49-F238E27FC236}">
                <a16:creationId xmlns:a16="http://schemas.microsoft.com/office/drawing/2014/main" id="{47E8EB6A-4233-491C-95E4-F28F26C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5">
            <a:extLst xmlns:a="http://schemas.openxmlformats.org/drawingml/2006/main">
              <a:ext uri="{FF2B5EF4-FFF2-40B4-BE49-F238E27FC236}">
                <a16:creationId xmlns:a16="http://schemas.microsoft.com/office/drawing/2014/main" id="{E0E0BA7F-E284-4828-9C42-0D8FC414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Storage tab as admin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Point to Main Repository hierarchy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Explain that viewer cannot access this API</a:t>
            </a:r>
          </a:p>
        </p:txBody>
      </p:sp>
      <p:sp>
        <p:nvSpPr>
          <p:cNvPr id="5" name="expected-label-15">
            <a:extLst xmlns:a="http://schemas.openxmlformats.org/drawingml/2006/main">
              <a:ext uri="{FF2B5EF4-FFF2-40B4-BE49-F238E27FC236}">
                <a16:creationId xmlns:a16="http://schemas.microsoft.com/office/drawing/2014/main" id="{ABEB6041-C702-4794-8F58-A0B422B3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5">
            <a:extLst xmlns:a="http://schemas.openxmlformats.org/drawingml/2006/main">
              <a:ext uri="{FF2B5EF4-FFF2-40B4-BE49-F238E27FC236}">
                <a16:creationId xmlns:a16="http://schemas.microsoft.com/office/drawing/2014/main" id="{A1F7850F-F30B-4F54-AE98-A1BCCAB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Locations render as paths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Canonical local storage convention is shown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Storage is treated separately from public description</a:t>
            </a:r>
          </a:p>
        </p:txBody>
      </p:sp>
      <p:sp>
        <p:nvSpPr>
          <p:cNvPr id="7" name="why-label-15">
            <a:extLst xmlns:a="http://schemas.openxmlformats.org/drawingml/2006/main">
              <a:ext uri="{FF2B5EF4-FFF2-40B4-BE49-F238E27FC236}">
                <a16:creationId xmlns:a16="http://schemas.microsoft.com/office/drawing/2014/main" id="{B51EE9C2-91DF-45B3-94D0-50A211F3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5">
            <a:extLst xmlns:a="http://schemas.openxmlformats.org/drawingml/2006/main">
              <a:ext uri="{FF2B5EF4-FFF2-40B4-BE49-F238E27FC236}">
                <a16:creationId xmlns:a16="http://schemas.microsoft.com/office/drawing/2014/main" id="{648B88FF-09AF-4873-AC94-8065BA21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Physical custody is operational data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Path rendering is fast to verify live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Viewer boundary protects internal logistics</a:t>
            </a:r>
          </a:p>
        </p:txBody>
      </p:sp>
      <p:sp>
        <p:nvSpPr>
          <p:cNvPr id="9" name="image-panel-15">
            <a:extLst xmlns:a="http://schemas.openxmlformats.org/drawingml/2006/main">
              <a:ext uri="{FF2B5EF4-FFF2-40B4-BE49-F238E27FC236}">
                <a16:creationId xmlns:a16="http://schemas.microsoft.com/office/drawing/2014/main" id="{F4243C73-24C0-4DA8-B275-B9C51D29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f0754439443c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599E1233-5A07-4C62-8165-7C36171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5">
            <a:extLst xmlns:a="http://schemas.openxmlformats.org/drawingml/2006/main">
              <a:ext uri="{FF2B5EF4-FFF2-40B4-BE49-F238E27FC236}">
                <a16:creationId xmlns:a16="http://schemas.microsoft.com/office/drawing/2014/main" id="{6DADF2C3-E34A-407B-9751-6D98A861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8A64AB6E-6E19-498A-98CD-C08B5A34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2305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B2791C83-B844-4A4A-A2A2-3781931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Digital media separates files and links</a:t>
            </a:r>
          </a:p>
        </p:txBody>
      </p:sp>
      <p:sp>
        <p:nvSpPr>
          <p:cNvPr id="2" name="accent-16">
            <a:extLst xmlns:a="http://schemas.openxmlformats.org/drawingml/2006/main">
              <a:ext uri="{FF2B5EF4-FFF2-40B4-BE49-F238E27FC236}">
                <a16:creationId xmlns:a16="http://schemas.microsoft.com/office/drawing/2014/main" id="{EE030C2A-DDAB-408C-B3DF-03F28BB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6">
            <a:extLst xmlns:a="http://schemas.openxmlformats.org/drawingml/2006/main">
              <a:ext uri="{FF2B5EF4-FFF2-40B4-BE49-F238E27FC236}">
                <a16:creationId xmlns:a16="http://schemas.microsoft.com/office/drawing/2014/main" id="{FE726402-3208-4B54-9E39-86D37E3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6">
            <a:extLst xmlns:a="http://schemas.openxmlformats.org/drawingml/2006/main">
              <a:ext uri="{FF2B5EF4-FFF2-40B4-BE49-F238E27FC236}">
                <a16:creationId xmlns:a16="http://schemas.microsoft.com/office/drawing/2014/main" id="{F30BB607-D918-47D6-B517-25F92BE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Return to the MNA-000123 detail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Point to derivative type and provider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Show local download versus Google Drive demo link</a:t>
            </a:r>
          </a:p>
        </p:txBody>
      </p:sp>
      <p:sp>
        <p:nvSpPr>
          <p:cNvPr id="5" name="expected-label-16">
            <a:extLst xmlns:a="http://schemas.openxmlformats.org/drawingml/2006/main">
              <a:ext uri="{FF2B5EF4-FFF2-40B4-BE49-F238E27FC236}">
                <a16:creationId xmlns:a16="http://schemas.microsoft.com/office/drawing/2014/main" id="{19710959-20FB-4236-84D7-AD0729D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6">
            <a:extLst xmlns:a="http://schemas.openxmlformats.org/drawingml/2006/main">
              <a:ext uri="{FF2B5EF4-FFF2-40B4-BE49-F238E27FC236}">
                <a16:creationId xmlns:a16="http://schemas.microsoft.com/office/drawing/2014/main" id="{F0C95D3F-E049-48B3-81FC-7D65438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Local rows show derivative type, provider, media type, and checksum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Drive demo link appears as google_drive_demo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Actions distinguish local download from Drive open link</a:t>
            </a:r>
          </a:p>
        </p:txBody>
      </p:sp>
      <p:sp>
        <p:nvSpPr>
          <p:cNvPr id="7" name="why-label-16">
            <a:extLst xmlns:a="http://schemas.openxmlformats.org/drawingml/2006/main">
              <a:ext uri="{FF2B5EF4-FFF2-40B4-BE49-F238E27FC236}">
                <a16:creationId xmlns:a16="http://schemas.microsoft.com/office/drawing/2014/main" id="{78D1F099-AB17-4547-BA0C-CB752AEB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6">
            <a:extLst xmlns:a="http://schemas.openxmlformats.org/drawingml/2006/main">
              <a:ext uri="{FF2B5EF4-FFF2-40B4-BE49-F238E27FC236}">
                <a16:creationId xmlns:a16="http://schemas.microsoft.com/office/drawing/2014/main" id="{D64D92C4-AF8C-4EFB-BDF6-87F5C5C3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Media is modeled separately from object text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Provider field explains storage source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Rights logic can hide restricted downloads</a:t>
            </a:r>
          </a:p>
        </p:txBody>
      </p:sp>
      <p:sp>
        <p:nvSpPr>
          <p:cNvPr id="9" name="image-panel-16">
            <a:extLst xmlns:a="http://schemas.openxmlformats.org/drawingml/2006/main">
              <a:ext uri="{FF2B5EF4-FFF2-40B4-BE49-F238E27FC236}">
                <a16:creationId xmlns:a16="http://schemas.microsoft.com/office/drawing/2014/main" id="{CBE00E0A-C58B-4E1A-B3FE-74067B44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a5e58e45f45a2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2CB3A8DF-4DDD-4E42-A379-5D2D7375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6">
            <a:extLst xmlns:a="http://schemas.openxmlformats.org/drawingml/2006/main">
              <a:ext uri="{FF2B5EF4-FFF2-40B4-BE49-F238E27FC236}">
                <a16:creationId xmlns:a16="http://schemas.microsoft.com/office/drawing/2014/main" id="{63114A73-64DA-41FE-A370-69B06C4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92D05ED6-B651-4862-9351-B865D78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158277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345B9BC8-889E-4002-9C15-262A12C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AI Intake upload returns a review draft</a:t>
            </a:r>
          </a:p>
        </p:txBody>
      </p:sp>
      <p:sp>
        <p:nvSpPr>
          <p:cNvPr id="2" name="accent-17">
            <a:extLst xmlns:a="http://schemas.openxmlformats.org/drawingml/2006/main">
              <a:ext uri="{FF2B5EF4-FFF2-40B4-BE49-F238E27FC236}">
                <a16:creationId xmlns:a16="http://schemas.microsoft.com/office/drawing/2014/main" id="{1B379183-5FBF-4361-9B62-71E9D1DE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7">
            <a:extLst xmlns:a="http://schemas.openxmlformats.org/drawingml/2006/main">
              <a:ext uri="{FF2B5EF4-FFF2-40B4-BE49-F238E27FC236}">
                <a16:creationId xmlns:a16="http://schemas.microsoft.com/office/drawing/2014/main" id="{B4BEC3F3-F51F-43E5-B253-033FDC7F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7">
            <a:extLst xmlns:a="http://schemas.openxmlformats.org/drawingml/2006/main">
              <a:ext uri="{FF2B5EF4-FFF2-40B4-BE49-F238E27FC236}">
                <a16:creationId xmlns:a16="http://schemas.microsoft.com/office/drawing/2014/main" id="{04D39157-3FD4-4869-99A7-43E5253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Admin tab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Upload manila-photo-1945.svg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Select the newest needs_review draft</a:t>
            </a:r>
          </a:p>
        </p:txBody>
      </p:sp>
      <p:sp>
        <p:nvSpPr>
          <p:cNvPr id="5" name="expected-label-17">
            <a:extLst xmlns:a="http://schemas.openxmlformats.org/drawingml/2006/main">
              <a:ext uri="{FF2B5EF4-FFF2-40B4-BE49-F238E27FC236}">
                <a16:creationId xmlns:a16="http://schemas.microsoft.com/office/drawing/2014/main" id="{F7DA96DD-E287-40E4-89D2-DA04931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7">
            <a:extLst xmlns:a="http://schemas.openxmlformats.org/drawingml/2006/main">
              <a:ext uri="{FF2B5EF4-FFF2-40B4-BE49-F238E27FC236}">
                <a16:creationId xmlns:a16="http://schemas.microsoft.com/office/drawing/2014/main" id="{24E9E06C-3483-4DCA-B7D5-8130BB9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Review Queue shows manila-photo-1945.svg selected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Draft title shows Manila Photo 1945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Status remains needs_review before curator submit</a:t>
            </a:r>
          </a:p>
        </p:txBody>
      </p:sp>
      <p:sp>
        <p:nvSpPr>
          <p:cNvPr id="7" name="why-label-17">
            <a:extLst xmlns:a="http://schemas.openxmlformats.org/drawingml/2006/main">
              <a:ext uri="{FF2B5EF4-FFF2-40B4-BE49-F238E27FC236}">
                <a16:creationId xmlns:a16="http://schemas.microsoft.com/office/drawing/2014/main" id="{206D3D33-66D5-45A3-AFB0-F07AE748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7">
            <a:extLst xmlns:a="http://schemas.openxmlformats.org/drawingml/2006/main">
              <a:ext uri="{FF2B5EF4-FFF2-40B4-BE49-F238E27FC236}">
                <a16:creationId xmlns:a16="http://schemas.microsoft.com/office/drawing/2014/main" id="{D0F2EB8A-CEF8-4027-B209-D3FEF7E4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AI suggestions are staged, not final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Checksum is captured before ingest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Curator review remains the control point</a:t>
            </a:r>
          </a:p>
        </p:txBody>
      </p:sp>
      <p:sp>
        <p:nvSpPr>
          <p:cNvPr id="9" name="image-panel-17">
            <a:extLst xmlns:a="http://schemas.openxmlformats.org/drawingml/2006/main">
              <a:ext uri="{FF2B5EF4-FFF2-40B4-BE49-F238E27FC236}">
                <a16:creationId xmlns:a16="http://schemas.microsoft.com/office/drawing/2014/main" id="{E29C5675-24D1-43CE-A931-4B4F8EC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1f982289f4944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7">
            <a:extLst xmlns:a="http://schemas.openxmlformats.org/drawingml/2006/main">
              <a:ext uri="{FF2B5EF4-FFF2-40B4-BE49-F238E27FC236}">
                <a16:creationId xmlns:a16="http://schemas.microsoft.com/office/drawing/2014/main" id="{7C217285-1669-4493-AD3D-D7160A7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7">
            <a:extLst xmlns:a="http://schemas.openxmlformats.org/drawingml/2006/main">
              <a:ext uri="{FF2B5EF4-FFF2-40B4-BE49-F238E27FC236}">
                <a16:creationId xmlns:a16="http://schemas.microsoft.com/office/drawing/2014/main" id="{4094E6E3-408A-4869-B344-0A6CE4E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7">
            <a:extLst xmlns:a="http://schemas.openxmlformats.org/drawingml/2006/main">
              <a:ext uri="{FF2B5EF4-FFF2-40B4-BE49-F238E27FC236}">
                <a16:creationId xmlns:a16="http://schemas.microsoft.com/office/drawing/2014/main" id="{68F6AF2C-C964-4875-BDA5-0C2F047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902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946B213E-6C08-4AD1-8706-B38E4A7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Curator review keeps suggestions accountable</a:t>
            </a:r>
          </a:p>
        </p:txBody>
      </p:sp>
      <p:sp>
        <p:nvSpPr>
          <p:cNvPr id="2" name="accent-18">
            <a:extLst xmlns:a="http://schemas.openxmlformats.org/drawingml/2006/main">
              <a:ext uri="{FF2B5EF4-FFF2-40B4-BE49-F238E27FC236}">
                <a16:creationId xmlns:a16="http://schemas.microsoft.com/office/drawing/2014/main" id="{1E5FC158-2ECF-4632-81BA-69C00A8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8">
            <a:extLst xmlns:a="http://schemas.openxmlformats.org/drawingml/2006/main">
              <a:ext uri="{FF2B5EF4-FFF2-40B4-BE49-F238E27FC236}">
                <a16:creationId xmlns:a16="http://schemas.microsoft.com/office/drawing/2014/main" id="{0203D677-1A0C-40B1-94B4-E35BCF3B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8">
            <a:extLst xmlns:a="http://schemas.openxmlformats.org/drawingml/2006/main">
              <a:ext uri="{FF2B5EF4-FFF2-40B4-BE49-F238E27FC236}">
                <a16:creationId xmlns:a16="http://schemas.microsoft.com/office/drawing/2014/main" id="{835C0CD9-63C8-4070-92F8-50155D04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Save a curator-reviewed title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Set Research Use, Manila, and Battle of Manila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Keep the draft in needs_review</a:t>
            </a:r>
          </a:p>
        </p:txBody>
      </p:sp>
      <p:sp>
        <p:nvSpPr>
          <p:cNvPr id="5" name="expected-label-18">
            <a:extLst xmlns:a="http://schemas.openxmlformats.org/drawingml/2006/main">
              <a:ext uri="{FF2B5EF4-FFF2-40B4-BE49-F238E27FC236}">
                <a16:creationId xmlns:a16="http://schemas.microsoft.com/office/drawing/2014/main" id="{F1087729-6EC6-42A7-97A6-3B3CCE2D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8">
            <a:extLst xmlns:a="http://schemas.openxmlformats.org/drawingml/2006/main">
              <a:ext uri="{FF2B5EF4-FFF2-40B4-BE49-F238E27FC236}">
                <a16:creationId xmlns:a16="http://schemas.microsoft.com/office/drawing/2014/main" id="{CD740CE6-7DCE-45E9-9CF3-A43EB40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Reviewed title is Demo reviewed Manila photograph, 1945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Rights field shows Research Use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Place and Event show Manila / Battle of Manila</a:t>
            </a:r>
          </a:p>
        </p:txBody>
      </p:sp>
      <p:sp>
        <p:nvSpPr>
          <p:cNvPr id="7" name="why-label-18">
            <a:extLst xmlns:a="http://schemas.openxmlformats.org/drawingml/2006/main">
              <a:ext uri="{FF2B5EF4-FFF2-40B4-BE49-F238E27FC236}">
                <a16:creationId xmlns:a16="http://schemas.microsoft.com/office/drawing/2014/main" id="{2767D66B-D87E-448C-804D-7AB53D2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8">
            <a:extLst xmlns:a="http://schemas.openxmlformats.org/drawingml/2006/main">
              <a:ext uri="{FF2B5EF4-FFF2-40B4-BE49-F238E27FC236}">
                <a16:creationId xmlns:a16="http://schemas.microsoft.com/office/drawing/2014/main" id="{3D79B73D-B5C0-4423-84B5-49B6CAAB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The human owns final metadata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Draft saving separates review from ingest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Authority matching happens from reviewed values</a:t>
            </a:r>
          </a:p>
        </p:txBody>
      </p:sp>
      <p:sp>
        <p:nvSpPr>
          <p:cNvPr id="9" name="image-panel-18">
            <a:extLst xmlns:a="http://schemas.openxmlformats.org/drawingml/2006/main">
              <a:ext uri="{FF2B5EF4-FFF2-40B4-BE49-F238E27FC236}">
                <a16:creationId xmlns:a16="http://schemas.microsoft.com/office/drawing/2014/main" id="{20B2FF51-7819-4FA0-AFE5-DF29E8E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3408a0939454f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4FEF8395-7720-4A7D-91E1-90721BD5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8">
            <a:extLst xmlns:a="http://schemas.openxmlformats.org/drawingml/2006/main">
              <a:ext uri="{FF2B5EF4-FFF2-40B4-BE49-F238E27FC236}">
                <a16:creationId xmlns:a16="http://schemas.microsoft.com/office/drawing/2014/main" id="{DF65BB46-A0D6-4A54-8666-D7461C7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8">
            <a:extLst xmlns:a="http://schemas.openxmlformats.org/drawingml/2006/main">
              <a:ext uri="{FF2B5EF4-FFF2-40B4-BE49-F238E27FC236}">
                <a16:creationId xmlns:a16="http://schemas.microsoft.com/office/drawing/2014/main" id="{E85B3FC3-6F45-4014-ACF1-13E4CFD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457357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D5209626-1146-4D7C-8119-4D4C9B18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Submit creates the catalog object and media</a:t>
            </a:r>
          </a:p>
        </p:txBody>
      </p:sp>
      <p:sp>
        <p:nvSpPr>
          <p:cNvPr id="2" name="accent-19">
            <a:extLst xmlns:a="http://schemas.openxmlformats.org/drawingml/2006/main">
              <a:ext uri="{FF2B5EF4-FFF2-40B4-BE49-F238E27FC236}">
                <a16:creationId xmlns:a16="http://schemas.microsoft.com/office/drawing/2014/main" id="{76E7ABD8-2F8C-44A0-9BDA-9C6C39CD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19">
            <a:extLst xmlns:a="http://schemas.openxmlformats.org/drawingml/2006/main">
              <a:ext uri="{FF2B5EF4-FFF2-40B4-BE49-F238E27FC236}">
                <a16:creationId xmlns:a16="http://schemas.microsoft.com/office/drawing/2014/main" id="{FD7AA48F-9FF1-4E17-83FF-711F593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19">
            <a:extLst xmlns:a="http://schemas.openxmlformats.org/drawingml/2006/main">
              <a:ext uri="{FF2B5EF4-FFF2-40B4-BE49-F238E27FC236}">
                <a16:creationId xmlns:a16="http://schemas.microsoft.com/office/drawing/2014/main" id="{71C6A713-0F2B-4E06-8166-B9C7A363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Submit as Create new object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Use preservation_master derivative type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Keep the submitted draft row visible in the runbook</a:t>
            </a:r>
          </a:p>
        </p:txBody>
      </p:sp>
      <p:sp>
        <p:nvSpPr>
          <p:cNvPr id="5" name="expected-label-19">
            <a:extLst xmlns:a="http://schemas.openxmlformats.org/drawingml/2006/main">
              <a:ext uri="{FF2B5EF4-FFF2-40B4-BE49-F238E27FC236}">
                <a16:creationId xmlns:a16="http://schemas.microsoft.com/office/drawing/2014/main" id="{E48B482F-1FAB-4DE0-8FC9-6D262355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19">
            <a:extLst xmlns:a="http://schemas.openxmlformats.org/drawingml/2006/main">
              <a:ext uri="{FF2B5EF4-FFF2-40B4-BE49-F238E27FC236}">
                <a16:creationId xmlns:a16="http://schemas.microsoft.com/office/drawing/2014/main" id="{B3D903FD-5F08-4502-86D5-D8E042B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Selected draft status changes to submitted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Permanent ID field shows DEMO-AI-20260823T052230Z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Reviewed rights still show Research Use</a:t>
            </a:r>
          </a:p>
        </p:txBody>
      </p:sp>
      <p:sp>
        <p:nvSpPr>
          <p:cNvPr id="7" name="why-label-19">
            <a:extLst xmlns:a="http://schemas.openxmlformats.org/drawingml/2006/main">
              <a:ext uri="{FF2B5EF4-FFF2-40B4-BE49-F238E27FC236}">
                <a16:creationId xmlns:a16="http://schemas.microsoft.com/office/drawing/2014/main" id="{801937A2-FC25-474E-AD05-C7C6123C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19">
            <a:extLst xmlns:a="http://schemas.openxmlformats.org/drawingml/2006/main">
              <a:ext uri="{FF2B5EF4-FFF2-40B4-BE49-F238E27FC236}">
                <a16:creationId xmlns:a16="http://schemas.microsoft.com/office/drawing/2014/main" id="{511EC16B-600C-412B-946E-1F2D834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Formal catalog write happens after approval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The intake row keeps submit provenance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Media is copied into archive-master storage</a:t>
            </a:r>
          </a:p>
        </p:txBody>
      </p:sp>
      <p:sp>
        <p:nvSpPr>
          <p:cNvPr id="9" name="image-panel-19">
            <a:extLst xmlns:a="http://schemas.openxmlformats.org/drawingml/2006/main">
              <a:ext uri="{FF2B5EF4-FFF2-40B4-BE49-F238E27FC236}">
                <a16:creationId xmlns:a16="http://schemas.microsoft.com/office/drawing/2014/main" id="{AF4A8C66-0782-4CC6-B2EB-F24C36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8b76af0894651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19">
            <a:extLst xmlns:a="http://schemas.openxmlformats.org/drawingml/2006/main">
              <a:ext uri="{FF2B5EF4-FFF2-40B4-BE49-F238E27FC236}">
                <a16:creationId xmlns:a16="http://schemas.microsoft.com/office/drawing/2014/main" id="{A61002C8-F6BF-4883-B58E-C9A628A1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19">
            <a:extLst xmlns:a="http://schemas.openxmlformats.org/drawingml/2006/main">
              <a:ext uri="{FF2B5EF4-FFF2-40B4-BE49-F238E27FC236}">
                <a16:creationId xmlns:a16="http://schemas.microsoft.com/office/drawing/2014/main" id="{E655F207-C7A3-48C3-9CB3-3655200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19">
            <a:extLst xmlns:a="http://schemas.openxmlformats.org/drawingml/2006/main">
              <a:ext uri="{FF2B5EF4-FFF2-40B4-BE49-F238E27FC236}">
                <a16:creationId xmlns:a16="http://schemas.microsoft.com/office/drawing/2014/main" id="{325D8280-3A86-4C9E-9A16-E25856F5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182832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D33035AB-F3A9-487B-897F-93E1A78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Catalog confirms intake became searchable</a:t>
            </a:r>
          </a:p>
        </p:txBody>
      </p:sp>
      <p:sp>
        <p:nvSpPr>
          <p:cNvPr id="2" name="accent-20">
            <a:extLst xmlns:a="http://schemas.openxmlformats.org/drawingml/2006/main">
              <a:ext uri="{FF2B5EF4-FFF2-40B4-BE49-F238E27FC236}">
                <a16:creationId xmlns:a16="http://schemas.microsoft.com/office/drawing/2014/main" id="{4215E850-D35E-4433-BAE0-3F282B5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20">
            <a:extLst xmlns:a="http://schemas.openxmlformats.org/drawingml/2006/main">
              <a:ext uri="{FF2B5EF4-FFF2-40B4-BE49-F238E27FC236}">
                <a16:creationId xmlns:a16="http://schemas.microsoft.com/office/drawing/2014/main" id="{B67B95B5-8296-4435-9973-715F84E6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20">
            <a:extLst xmlns:a="http://schemas.openxmlformats.org/drawingml/2006/main">
              <a:ext uri="{FF2B5EF4-FFF2-40B4-BE49-F238E27FC236}">
                <a16:creationId xmlns:a16="http://schemas.microsoft.com/office/drawing/2014/main" id="{9BABE1A9-9996-4C24-BF90-C46796CF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Catalog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Filter Subject to AI Intake Demo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Select the new permanent ID</a:t>
            </a:r>
          </a:p>
        </p:txBody>
      </p:sp>
      <p:sp>
        <p:nvSpPr>
          <p:cNvPr id="5" name="expected-label-20">
            <a:extLst xmlns:a="http://schemas.openxmlformats.org/drawingml/2006/main">
              <a:ext uri="{FF2B5EF4-FFF2-40B4-BE49-F238E27FC236}">
                <a16:creationId xmlns:a16="http://schemas.microsoft.com/office/drawing/2014/main" id="{F73218CD-50E8-4238-A8D0-829F27C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20">
            <a:extLst xmlns:a="http://schemas.openxmlformats.org/drawingml/2006/main">
              <a:ext uri="{FF2B5EF4-FFF2-40B4-BE49-F238E27FC236}">
                <a16:creationId xmlns:a16="http://schemas.microsoft.com/office/drawing/2014/main" id="{EF707F2A-EF42-4183-BFD0-F6C9B39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Detail title: Demo reviewed Manila photograph, 1945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Permanent ID: DEMO-AI-20260823T052230Z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Object type and rights pills show Photograph / Research Use</a:t>
            </a:r>
          </a:p>
        </p:txBody>
      </p:sp>
      <p:sp>
        <p:nvSpPr>
          <p:cNvPr id="7" name="why-label-20">
            <a:extLst xmlns:a="http://schemas.openxmlformats.org/drawingml/2006/main">
              <a:ext uri="{FF2B5EF4-FFF2-40B4-BE49-F238E27FC236}">
                <a16:creationId xmlns:a16="http://schemas.microsoft.com/office/drawing/2014/main" id="{36E36886-2ED9-445B-B4E2-0E64322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20">
            <a:extLst xmlns:a="http://schemas.openxmlformats.org/drawingml/2006/main">
              <a:ext uri="{FF2B5EF4-FFF2-40B4-BE49-F238E27FC236}">
                <a16:creationId xmlns:a16="http://schemas.microsoft.com/office/drawing/2014/main" id="{41AB36EC-2E8F-4AC1-965D-A1D3434D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Intake-created records use the same catalog surfaces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Facets update from the new subject term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Media attachment is visible from detail</a:t>
            </a:r>
          </a:p>
        </p:txBody>
      </p:sp>
      <p:sp>
        <p:nvSpPr>
          <p:cNvPr id="9" name="image-panel-20">
            <a:extLst xmlns:a="http://schemas.openxmlformats.org/drawingml/2006/main">
              <a:ext uri="{FF2B5EF4-FFF2-40B4-BE49-F238E27FC236}">
                <a16:creationId xmlns:a16="http://schemas.microsoft.com/office/drawing/2014/main" id="{65B88F3B-0F09-4761-938D-23B88AD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456f01c874698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20">
            <a:extLst xmlns:a="http://schemas.openxmlformats.org/drawingml/2006/main">
              <a:ext uri="{FF2B5EF4-FFF2-40B4-BE49-F238E27FC236}">
                <a16:creationId xmlns:a16="http://schemas.microsoft.com/office/drawing/2014/main" id="{B50AD7EB-7892-4AC6-AF4D-78EAD7F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20">
            <a:extLst xmlns:a="http://schemas.openxmlformats.org/drawingml/2006/main">
              <a:ext uri="{FF2B5EF4-FFF2-40B4-BE49-F238E27FC236}">
                <a16:creationId xmlns:a16="http://schemas.microsoft.com/office/drawing/2014/main" id="{8D52676E-D5C1-4E89-94E9-6F4E0F61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20">
            <a:extLst xmlns:a="http://schemas.openxmlformats.org/drawingml/2006/main">
              <a:ext uri="{FF2B5EF4-FFF2-40B4-BE49-F238E27FC236}">
                <a16:creationId xmlns:a16="http://schemas.microsoft.com/office/drawing/2014/main" id="{69104B2B-61FC-429D-B618-5B209B7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464570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EB08AEB0-D449-4B6D-B92B-8DFE9308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Backup and audit prove admin actions persisted</a:t>
            </a:r>
          </a:p>
        </p:txBody>
      </p:sp>
      <p:sp>
        <p:nvSpPr>
          <p:cNvPr id="2" name="accent-21">
            <a:extLst xmlns:a="http://schemas.openxmlformats.org/drawingml/2006/main">
              <a:ext uri="{FF2B5EF4-FFF2-40B4-BE49-F238E27FC236}">
                <a16:creationId xmlns:a16="http://schemas.microsoft.com/office/drawing/2014/main" id="{A60B5392-9FB5-44C0-A545-0180176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21">
            <a:extLst xmlns:a="http://schemas.openxmlformats.org/drawingml/2006/main">
              <a:ext uri="{FF2B5EF4-FFF2-40B4-BE49-F238E27FC236}">
                <a16:creationId xmlns:a16="http://schemas.microsoft.com/office/drawing/2014/main" id="{80FF25F8-73F3-4717-9B78-2B10761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21">
            <a:extLst xmlns:a="http://schemas.openxmlformats.org/drawingml/2006/main">
              <a:ext uri="{FF2B5EF4-FFF2-40B4-BE49-F238E27FC236}">
                <a16:creationId xmlns:a16="http://schemas.microsoft.com/office/drawing/2014/main" id="{3877F0B5-38A0-4A42-B104-8436057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Click Generate Backup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Inspect the Audit list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Name the backup folder and recent intake actions</a:t>
            </a:r>
          </a:p>
        </p:txBody>
      </p:sp>
      <p:sp>
        <p:nvSpPr>
          <p:cNvPr id="5" name="expected-label-21">
            <a:extLst xmlns:a="http://schemas.openxmlformats.org/drawingml/2006/main">
              <a:ext uri="{FF2B5EF4-FFF2-40B4-BE49-F238E27FC236}">
                <a16:creationId xmlns:a16="http://schemas.microsoft.com/office/drawing/2014/main" id="{9125622F-D314-417D-B77F-F68533A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21">
            <a:extLst xmlns:a="http://schemas.openxmlformats.org/drawingml/2006/main">
              <a:ext uri="{FF2B5EF4-FFF2-40B4-BE49-F238E27FC236}">
                <a16:creationId xmlns:a16="http://schemas.microsoft.com/office/drawing/2014/main" id="{D0C43228-C479-4100-947A-40E11AD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Backup panel shows a generated archive_backup folder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Audit list shows a backup row with actor and timestamp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Audit detail names database, metadata, taxonomy, and checksum exports</a:t>
            </a:r>
          </a:p>
        </p:txBody>
      </p:sp>
      <p:sp>
        <p:nvSpPr>
          <p:cNvPr id="7" name="why-label-21">
            <a:extLst xmlns:a="http://schemas.openxmlformats.org/drawingml/2006/main">
              <a:ext uri="{FF2B5EF4-FFF2-40B4-BE49-F238E27FC236}">
                <a16:creationId xmlns:a16="http://schemas.microsoft.com/office/drawing/2014/main" id="{E708CA5A-E771-4DF0-96CB-11866BF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21">
            <a:extLst xmlns:a="http://schemas.openxmlformats.org/drawingml/2006/main">
              <a:ext uri="{FF2B5EF4-FFF2-40B4-BE49-F238E27FC236}">
                <a16:creationId xmlns:a16="http://schemas.microsoft.com/office/drawing/2014/main" id="{E5738369-A1D9-4CBF-98C5-36423C1C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Audit is the demo's accountability layer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Backup proves export readiness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Both are admin-only operations</a:t>
            </a:r>
          </a:p>
        </p:txBody>
      </p:sp>
      <p:sp>
        <p:nvSpPr>
          <p:cNvPr id="9" name="image-panel-21">
            <a:extLst xmlns:a="http://schemas.openxmlformats.org/drawingml/2006/main">
              <a:ext uri="{FF2B5EF4-FFF2-40B4-BE49-F238E27FC236}">
                <a16:creationId xmlns:a16="http://schemas.microsoft.com/office/drawing/2014/main" id="{346F08BF-17C7-492E-9679-E78867FA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e49c0d7b84984"/>
          <a:stretch xmlns:a="http://schemas.openxmlformats.org/drawingml/2006/main"/>
        </p:blipFill>
        <p:spPr>
          <a:xfrm xmlns:a="http://schemas.openxmlformats.org/drawingml/2006/main">
            <a:off x="3695700" y="651421"/>
            <a:ext cx="7981950" cy="5612309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21">
            <a:extLst xmlns:a="http://schemas.openxmlformats.org/drawingml/2006/main">
              <a:ext uri="{FF2B5EF4-FFF2-40B4-BE49-F238E27FC236}">
                <a16:creationId xmlns:a16="http://schemas.microsoft.com/office/drawing/2014/main" id="{27C1FDE4-77BC-4357-962F-7B6333C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21">
            <a:extLst xmlns:a="http://schemas.openxmlformats.org/drawingml/2006/main">
              <a:ext uri="{FF2B5EF4-FFF2-40B4-BE49-F238E27FC236}">
                <a16:creationId xmlns:a16="http://schemas.microsoft.com/office/drawing/2014/main" id="{84C857E3-6D3C-4404-9703-A9853F92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21">
            <a:extLst xmlns:a="http://schemas.openxmlformats.org/drawingml/2006/main">
              <a:ext uri="{FF2B5EF4-FFF2-40B4-BE49-F238E27FC236}">
                <a16:creationId xmlns:a16="http://schemas.microsoft.com/office/drawing/2014/main" id="{505B8D62-354B-4B44-8FC3-14B4D49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14906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0A006F38-CB5F-4539-9D3C-498D9E6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Viewer detail confirms safe public metadata</a:t>
            </a:r>
          </a:p>
        </p:txBody>
      </p:sp>
      <p:sp>
        <p:nvSpPr>
          <p:cNvPr id="2" name="accent-22">
            <a:extLst xmlns:a="http://schemas.openxmlformats.org/drawingml/2006/main">
              <a:ext uri="{FF2B5EF4-FFF2-40B4-BE49-F238E27FC236}">
                <a16:creationId xmlns:a16="http://schemas.microsoft.com/office/drawing/2014/main" id="{973C9BB2-EE99-4A58-B1C9-ECF5FFE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22">
            <a:extLst xmlns:a="http://schemas.openxmlformats.org/drawingml/2006/main">
              <a:ext uri="{FF2B5EF4-FFF2-40B4-BE49-F238E27FC236}">
                <a16:creationId xmlns:a16="http://schemas.microsoft.com/office/drawing/2014/main" id="{30D57698-9AF6-4B29-9B62-BEFD1B34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22">
            <a:extLst xmlns:a="http://schemas.openxmlformats.org/drawingml/2006/main">
              <a:ext uri="{FF2B5EF4-FFF2-40B4-BE49-F238E27FC236}">
                <a16:creationId xmlns:a16="http://schemas.microsoft.com/office/drawing/2014/main" id="{F02F4794-D0E9-4BF3-A29B-6D849EDB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Sign out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Sign in as viewer / viewer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Search MNA-000123</a:t>
            </a:r>
          </a:p>
        </p:txBody>
      </p:sp>
      <p:sp>
        <p:nvSpPr>
          <p:cNvPr id="5" name="expected-label-22">
            <a:extLst xmlns:a="http://schemas.openxmlformats.org/drawingml/2006/main">
              <a:ext uri="{FF2B5EF4-FFF2-40B4-BE49-F238E27FC236}">
                <a16:creationId xmlns:a16="http://schemas.microsoft.com/office/drawing/2014/main" id="{C8A9BBB9-1FB8-4D25-BE0E-2D993B7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22">
            <a:extLst xmlns:a="http://schemas.openxmlformats.org/drawingml/2006/main">
              <a:ext uri="{FF2B5EF4-FFF2-40B4-BE49-F238E27FC236}">
                <a16:creationId xmlns:a16="http://schemas.microsoft.com/office/drawing/2014/main" id="{4317D530-A19F-416B-B6FA-20CBA8F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No Edit button is shown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Storage path, checksum, internal note, and preservation note are hidden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Permitted descriptive metadata remains searchable</a:t>
            </a:r>
          </a:p>
        </p:txBody>
      </p:sp>
      <p:sp>
        <p:nvSpPr>
          <p:cNvPr id="7" name="why-label-22">
            <a:extLst xmlns:a="http://schemas.openxmlformats.org/drawingml/2006/main">
              <a:ext uri="{FF2B5EF4-FFF2-40B4-BE49-F238E27FC236}">
                <a16:creationId xmlns:a16="http://schemas.microsoft.com/office/drawing/2014/main" id="{5B43CCB2-3063-43BE-9B32-EF7ABA4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22">
            <a:extLst xmlns:a="http://schemas.openxmlformats.org/drawingml/2006/main">
              <a:ext uri="{FF2B5EF4-FFF2-40B4-BE49-F238E27FC236}">
                <a16:creationId xmlns:a16="http://schemas.microsoft.com/office/drawing/2014/main" id="{1B963BA1-6933-4FD2-AD24-536130AA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Viewer mode is useful, not broken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Sensitive stewardship fields stay hidden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Search/detail reuse the same catalog model</a:t>
            </a:r>
          </a:p>
        </p:txBody>
      </p:sp>
      <p:sp>
        <p:nvSpPr>
          <p:cNvPr id="9" name="image-panel-22">
            <a:extLst xmlns:a="http://schemas.openxmlformats.org/drawingml/2006/main">
              <a:ext uri="{FF2B5EF4-FFF2-40B4-BE49-F238E27FC236}">
                <a16:creationId xmlns:a16="http://schemas.microsoft.com/office/drawing/2014/main" id="{17DB7949-895D-4166-B1CC-1C27E0F6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4f9e1cceb4311"/>
          <a:stretch xmlns:a="http://schemas.openxmlformats.org/drawingml/2006/main"/>
        </p:blipFill>
        <p:spPr>
          <a:xfrm xmlns:a="http://schemas.openxmlformats.org/drawingml/2006/main">
            <a:off x="3695700" y="647730"/>
            <a:ext cx="7981950" cy="5619691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22">
            <a:extLst xmlns:a="http://schemas.openxmlformats.org/drawingml/2006/main">
              <a:ext uri="{FF2B5EF4-FFF2-40B4-BE49-F238E27FC236}">
                <a16:creationId xmlns:a16="http://schemas.microsoft.com/office/drawing/2014/main" id="{BBF68926-A7D7-487D-94D2-704326E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22">
            <a:extLst xmlns:a="http://schemas.openxmlformats.org/drawingml/2006/main">
              <a:ext uri="{FF2B5EF4-FFF2-40B4-BE49-F238E27FC236}">
                <a16:creationId xmlns:a16="http://schemas.microsoft.com/office/drawing/2014/main" id="{BA5AC163-DC81-4798-B63B-C1856E5A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22">
            <a:extLst xmlns:a="http://schemas.openxmlformats.org/drawingml/2006/main">
              <a:ext uri="{FF2B5EF4-FFF2-40B4-BE49-F238E27FC236}">
                <a16:creationId xmlns:a16="http://schemas.microsoft.com/office/drawing/2014/main" id="{591EE96F-41CA-4454-87CD-B334F3B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059219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022051BF-DB82-419B-A574-BE9D2677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990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Viewer admin access is blocked</a:t>
            </a:r>
          </a:p>
        </p:txBody>
      </p:sp>
      <p:sp>
        <p:nvSpPr>
          <p:cNvPr id="2" name="accent-23">
            <a:extLst xmlns:a="http://schemas.openxmlformats.org/drawingml/2006/main">
              <a:ext uri="{FF2B5EF4-FFF2-40B4-BE49-F238E27FC236}">
                <a16:creationId xmlns:a16="http://schemas.microsoft.com/office/drawing/2014/main" id="{44AC62A0-A6F4-451E-8AF7-CF10F8EC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on-label-23">
            <a:extLst xmlns:a="http://schemas.openxmlformats.org/drawingml/2006/main">
              <a:ext uri="{FF2B5EF4-FFF2-40B4-BE49-F238E27FC236}">
                <a16:creationId xmlns:a16="http://schemas.microsoft.com/office/drawing/2014/main" id="{6333D866-E678-414E-9B0D-9CB8184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操作</a:t>
            </a:r>
          </a:p>
        </p:txBody>
      </p:sp>
      <p:sp>
        <p:nvSpPr>
          <p:cNvPr id="4" name="action-23">
            <a:extLst xmlns:a="http://schemas.openxmlformats.org/drawingml/2006/main">
              <a:ext uri="{FF2B5EF4-FFF2-40B4-BE49-F238E27FC236}">
                <a16:creationId xmlns:a16="http://schemas.microsoft.com/office/drawing/2014/main" id="{D3A020ED-70B5-4BDF-8074-98FF784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Stay logged in as viewer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Open Admin tab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Try to locate upload, backup, or intake controls</a:t>
            </a:r>
          </a:p>
        </p:txBody>
      </p:sp>
      <p:sp>
        <p:nvSpPr>
          <p:cNvPr id="5" name="expected-label-23">
            <a:extLst xmlns:a="http://schemas.openxmlformats.org/drawingml/2006/main">
              <a:ext uri="{FF2B5EF4-FFF2-40B4-BE49-F238E27FC236}">
                <a16:creationId xmlns:a16="http://schemas.microsoft.com/office/drawing/2014/main" id="{1B67C077-EF62-4171-975C-86A8E18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实现 / Return</a:t>
            </a:r>
          </a:p>
        </p:txBody>
      </p:sp>
      <p:sp>
        <p:nvSpPr>
          <p:cNvPr id="6" name="expected-23">
            <a:extLst xmlns:a="http://schemas.openxmlformats.org/drawingml/2006/main">
              <a:ext uri="{FF2B5EF4-FFF2-40B4-BE49-F238E27FC236}">
                <a16:creationId xmlns:a16="http://schemas.microsoft.com/office/drawing/2014/main" id="{826DCB23-8C95-410A-B6C3-0A51991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990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Read-only account message appears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Review Queue says Admin access required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Upload and attach controls appear disabled</a:t>
            </a:r>
          </a:p>
        </p:txBody>
      </p:sp>
      <p:sp>
        <p:nvSpPr>
          <p:cNvPr id="7" name="why-label-23">
            <a:extLst xmlns:a="http://schemas.openxmlformats.org/drawingml/2006/main">
              <a:ext uri="{FF2B5EF4-FFF2-40B4-BE49-F238E27FC236}">
                <a16:creationId xmlns:a16="http://schemas.microsoft.com/office/drawing/2014/main" id="{17290119-86C8-431C-8643-63B5F45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为什么这样设计</a:t>
            </a:r>
          </a:p>
        </p:txBody>
      </p:sp>
      <p:sp>
        <p:nvSpPr>
          <p:cNvPr id="8" name="why-23">
            <a:extLst xmlns:a="http://schemas.openxmlformats.org/drawingml/2006/main">
              <a:ext uri="{FF2B5EF4-FFF2-40B4-BE49-F238E27FC236}">
                <a16:creationId xmlns:a16="http://schemas.microsoft.com/office/drawing/2014/main" id="{469B5A2F-3AB2-4653-B039-071B62C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2990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UI and API enforce the same boundary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Disabled controls reduce demo ambiguity</a:t>
            </a:r>
          </a:p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• Automated tests also cover Admin permission required</a:t>
            </a:r>
          </a:p>
        </p:txBody>
      </p:sp>
      <p:sp>
        <p:nvSpPr>
          <p:cNvPr id="9" name="image-panel-23">
            <a:extLst xmlns:a="http://schemas.openxmlformats.org/drawingml/2006/main">
              <a:ext uri="{FF2B5EF4-FFF2-40B4-BE49-F238E27FC236}">
                <a16:creationId xmlns:a16="http://schemas.microsoft.com/office/drawing/2014/main" id="{463B6012-CFB3-4169-A436-F72D51E2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3400"/>
            <a:ext cx="82105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f7cbb0146422b"/>
          <a:stretch xmlns:a="http://schemas.openxmlformats.org/drawingml/2006/main"/>
        </p:blipFill>
        <p:spPr>
          <a:xfrm xmlns:a="http://schemas.openxmlformats.org/drawingml/2006/main">
            <a:off x="3695700" y="647730"/>
            <a:ext cx="7981950" cy="5619691"/>
          </a:xfrm>
          <a:prstGeom xmlns:a="http://schemas.openxmlformats.org/drawingml/2006/main" prst="rect">
            <a:avLst/>
          </a:prstGeom>
        </p:spPr>
      </p:pic>
      <p:sp>
        <p:nvSpPr>
          <p:cNvPr id="11" name="footer-rule-23">
            <a:extLst xmlns:a="http://schemas.openxmlformats.org/drawingml/2006/main">
              <a:ext uri="{FF2B5EF4-FFF2-40B4-BE49-F238E27FC236}">
                <a16:creationId xmlns:a16="http://schemas.microsoft.com/office/drawing/2014/main" id="{5F6609D2-43A3-47B6-B4C5-6429FC1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23">
            <a:extLst xmlns:a="http://schemas.openxmlformats.org/drawingml/2006/main">
              <a:ext uri="{FF2B5EF4-FFF2-40B4-BE49-F238E27FC236}">
                <a16:creationId xmlns:a16="http://schemas.microsoft.com/office/drawing/2014/main" id="{1F289C5B-4735-4575-A700-62B9AA9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3" name="slide-number-23">
            <a:extLst xmlns:a="http://schemas.openxmlformats.org/drawingml/2006/main">
              <a:ext uri="{FF2B5EF4-FFF2-40B4-BE49-F238E27FC236}">
                <a16:creationId xmlns:a16="http://schemas.microsoft.com/office/drawing/2014/main" id="{376E32DB-9A81-4C7B-9743-9C22A35A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136932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title-24">
            <a:extLst xmlns:a="http://schemas.openxmlformats.org/drawingml/2006/main">
              <a:ext uri="{FF2B5EF4-FFF2-40B4-BE49-F238E27FC236}">
                <a16:creationId xmlns:a16="http://schemas.microsoft.com/office/drawing/2014/main" id="{37C6BC65-015F-419D-9364-E41EEF6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End with proof points, not another click</a:t>
            </a:r>
          </a:p>
        </p:txBody>
      </p:sp>
      <p:sp>
        <p:nvSpPr>
          <p:cNvPr id="2" name="close-accent-24">
            <a:extLst xmlns:a="http://schemas.openxmlformats.org/drawingml/2006/main">
              <a:ext uri="{FF2B5EF4-FFF2-40B4-BE49-F238E27FC236}">
                <a16:creationId xmlns:a16="http://schemas.microsoft.com/office/drawing/2014/main" id="{C1E455FD-06F1-4866-AA22-E80DD35E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square-Admin can write">
            <a:extLst xmlns:a="http://schemas.openxmlformats.org/drawingml/2006/main">
              <a:ext uri="{FF2B5EF4-FFF2-40B4-BE49-F238E27FC236}">
                <a16:creationId xmlns:a16="http://schemas.microsoft.com/office/drawing/2014/main" id="{36B78D86-40CA-49D9-8C1A-5FFC103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head-Admin can write">
            <a:extLst xmlns:a="http://schemas.openxmlformats.org/drawingml/2006/main">
              <a:ext uri="{FF2B5EF4-FFF2-40B4-BE49-F238E27FC236}">
                <a16:creationId xmlns:a16="http://schemas.microsoft.com/office/drawing/2014/main" id="{DD5B6651-BDD1-461B-8BC9-E8360CB4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Admin can write</a:t>
            </a:r>
          </a:p>
        </p:txBody>
      </p:sp>
      <p:sp>
        <p:nvSpPr>
          <p:cNvPr id="5" name="close-body-Admin can write">
            <a:extLst xmlns:a="http://schemas.openxmlformats.org/drawingml/2006/main">
              <a:ext uri="{FF2B5EF4-FFF2-40B4-BE49-F238E27FC236}">
                <a16:creationId xmlns:a16="http://schemas.microsoft.com/office/drawing/2014/main" id="{8D0D8D37-1D55-4D7F-AC8C-FCF7830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Create/edit records, upload media, intake files, generate backup.</a:t>
            </a:r>
          </a:p>
        </p:txBody>
      </p:sp>
      <p:sp>
        <p:nvSpPr>
          <p:cNvPr id="6" name="close-square-Viewer is safe">
            <a:extLst xmlns:a="http://schemas.openxmlformats.org/drawingml/2006/main">
              <a:ext uri="{FF2B5EF4-FFF2-40B4-BE49-F238E27FC236}">
                <a16:creationId xmlns:a16="http://schemas.microsoft.com/office/drawing/2014/main" id="{792423A6-1950-4468-BBA1-990D221C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head-Viewer is safe">
            <a:extLst xmlns:a="http://schemas.openxmlformats.org/drawingml/2006/main">
              <a:ext uri="{FF2B5EF4-FFF2-40B4-BE49-F238E27FC236}">
                <a16:creationId xmlns:a16="http://schemas.microsoft.com/office/drawing/2014/main" id="{8B53ED5A-E267-4291-98CB-FD5B0EB3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Viewer is safe</a:t>
            </a:r>
          </a:p>
        </p:txBody>
      </p:sp>
      <p:sp>
        <p:nvSpPr>
          <p:cNvPr id="8" name="close-body-Viewer is safe">
            <a:extLst xmlns:a="http://schemas.openxmlformats.org/drawingml/2006/main">
              <a:ext uri="{FF2B5EF4-FFF2-40B4-BE49-F238E27FC236}">
                <a16:creationId xmlns:a16="http://schemas.microsoft.com/office/drawing/2014/main" id="{F754E863-9C8F-4C70-B74C-5C577AC9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Search and detail work, but admin data and actions are blocked.</a:t>
            </a:r>
          </a:p>
        </p:txBody>
      </p:sp>
      <p:sp>
        <p:nvSpPr>
          <p:cNvPr id="9" name="close-square-Metadata is structured">
            <a:extLst xmlns:a="http://schemas.openxmlformats.org/drawingml/2006/main">
              <a:ext uri="{FF2B5EF4-FFF2-40B4-BE49-F238E27FC236}">
                <a16:creationId xmlns:a16="http://schemas.microsoft.com/office/drawing/2014/main" id="{28428AAA-0DEE-467D-BE3B-73513097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head-Metadata is structured">
            <a:extLst xmlns:a="http://schemas.openxmlformats.org/drawingml/2006/main">
              <a:ext uri="{FF2B5EF4-FFF2-40B4-BE49-F238E27FC236}">
                <a16:creationId xmlns:a16="http://schemas.microsoft.com/office/drawing/2014/main" id="{6833A025-1619-4795-8C90-0CEE50D0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Metadata is structured</a:t>
            </a:r>
          </a:p>
        </p:txBody>
      </p:sp>
      <p:sp>
        <p:nvSpPr>
          <p:cNvPr id="11" name="close-body-Metadata is structured">
            <a:extLst xmlns:a="http://schemas.openxmlformats.org/drawingml/2006/main">
              <a:ext uri="{FF2B5EF4-FFF2-40B4-BE49-F238E27FC236}">
                <a16:creationId xmlns:a16="http://schemas.microsoft.com/office/drawing/2014/main" id="{8BBEB938-1C05-4170-8788-27E4F14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Objects, authorities, taxonomy, storage, media, audit, and backup are separate.</a:t>
            </a:r>
          </a:p>
        </p:txBody>
      </p:sp>
      <p:sp>
        <p:nvSpPr>
          <p:cNvPr id="12" name="close-square-Current build passed">
            <a:extLst xmlns:a="http://schemas.openxmlformats.org/drawingml/2006/main">
              <a:ext uri="{FF2B5EF4-FFF2-40B4-BE49-F238E27FC236}">
                <a16:creationId xmlns:a16="http://schemas.microsoft.com/office/drawing/2014/main" id="{E6BE6D69-B1A7-415E-BDCC-79EBF943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head-Current build passed">
            <a:extLst xmlns:a="http://schemas.openxmlformats.org/drawingml/2006/main">
              <a:ext uri="{FF2B5EF4-FFF2-40B4-BE49-F238E27FC236}">
                <a16:creationId xmlns:a16="http://schemas.microsoft.com/office/drawing/2014/main" id="{BFF75881-62D6-44DC-BCE1-4585B3F5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Current build passed</a:t>
            </a:r>
          </a:p>
        </p:txBody>
      </p:sp>
      <p:sp>
        <p:nvSpPr>
          <p:cNvPr id="14" name="close-body-Current build passed">
            <a:extLst xmlns:a="http://schemas.openxmlformats.org/drawingml/2006/main">
              <a:ext uri="{FF2B5EF4-FFF2-40B4-BE49-F238E27FC236}">
                <a16:creationId xmlns:a16="http://schemas.microsoft.com/office/drawing/2014/main" id="{018BF689-42C2-4C80-B47A-D6FD637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 latest automated run passed all 89 checks.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23430b07a4044"/>
          <a:stretch xmlns:a="http://schemas.openxmlformats.org/drawingml/2006/main"/>
        </p:blipFill>
        <p:spPr>
          <a:xfrm xmlns:a="http://schemas.openxmlformats.org/drawingml/2006/main">
            <a:off x="8184546" y="4343400"/>
            <a:ext cx="2299908" cy="1619250"/>
          </a:xfrm>
          <a:prstGeom xmlns:a="http://schemas.openxmlformats.org/drawingml/2006/main" prst="rect">
            <a:avLst/>
          </a:prstGeom>
        </p:spPr>
      </p:pic>
      <p:sp>
        <p:nvSpPr>
          <p:cNvPr id="16" name="footer-rule-24">
            <a:extLst xmlns:a="http://schemas.openxmlformats.org/drawingml/2006/main">
              <a:ext uri="{FF2B5EF4-FFF2-40B4-BE49-F238E27FC236}">
                <a16:creationId xmlns:a16="http://schemas.microsoft.com/office/drawing/2014/main" id="{23728E25-481F-42B5-9A0D-7B006D9E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24">
            <a:extLst xmlns:a="http://schemas.openxmlformats.org/drawingml/2006/main">
              <a:ext uri="{FF2B5EF4-FFF2-40B4-BE49-F238E27FC236}">
                <a16:creationId xmlns:a16="http://schemas.microsoft.com/office/drawing/2014/main" id="{DEDAF283-80A2-43C4-AD24-F1956B4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18" name="slide-number-24">
            <a:extLst xmlns:a="http://schemas.openxmlformats.org/drawingml/2006/main">
              <a:ext uri="{FF2B5EF4-FFF2-40B4-BE49-F238E27FC236}">
                <a16:creationId xmlns:a16="http://schemas.microsoft.com/office/drawing/2014/main" id="{CC5F66A6-0F56-4B12-8389-5373BF0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851058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ppendix-eyebrow-25">
            <a:extLst xmlns:a="http://schemas.openxmlformats.org/drawingml/2006/main">
              <a:ext uri="{FF2B5EF4-FFF2-40B4-BE49-F238E27FC236}">
                <a16:creationId xmlns:a16="http://schemas.microsoft.com/office/drawing/2014/main" id="{E082FA1A-7789-4C45-B1D4-8D1D6A0C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</a:t>
            </a:r>
          </a:p>
        </p:txBody>
      </p:sp>
      <p:sp>
        <p:nvSpPr>
          <p:cNvPr id="2" name="appendix-title-25">
            <a:extLst xmlns:a="http://schemas.openxmlformats.org/drawingml/2006/main">
              <a:ext uri="{FF2B5EF4-FFF2-40B4-BE49-F238E27FC236}">
                <a16:creationId xmlns:a16="http://schemas.microsoft.com/office/drawing/2014/main" id="{5317BF4F-FB84-4BFA-8C8D-26AD2A4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Full raw screenshot outputs</a:t>
            </a:r>
          </a:p>
        </p:txBody>
      </p:sp>
      <p:sp>
        <p:nvSpPr>
          <p:cNvPr id="3" name="appendix-accent-25">
            <a:extLst xmlns:a="http://schemas.openxmlformats.org/drawingml/2006/main">
              <a:ext uri="{FF2B5EF4-FFF2-40B4-BE49-F238E27FC236}">
                <a16:creationId xmlns:a16="http://schemas.microsoft.com/office/drawing/2014/main" id="{88A2CC66-C1C9-4442-B5ED-5F44A9D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endix-body-25">
            <a:extLst xmlns:a="http://schemas.openxmlformats.org/drawingml/2006/main">
              <a:ext uri="{FF2B5EF4-FFF2-40B4-BE49-F238E27FC236}">
                <a16:creationId xmlns:a16="http://schemas.microsoft.com/office/drawing/2014/main" id="{EB5141E0-AA4B-4B98-948F-419EFDFC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These are the complete raw screenshots behind the demo steps, scaled to fit one slide each. Long pages are intentionally included in full.</a:t>
            </a:r>
          </a:p>
        </p:txBody>
      </p:sp>
      <p:sp>
        <p:nvSpPr>
          <p:cNvPr id="5" name="appendix-count-25">
            <a:extLst xmlns:a="http://schemas.openxmlformats.org/drawingml/2006/main">
              <a:ext uri="{FF2B5EF4-FFF2-40B4-BE49-F238E27FC236}">
                <a16:creationId xmlns:a16="http://schemas.microsoft.com/office/drawing/2014/main" id="{8B89D233-BA5D-4AE3-883A-DDF97B5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Use these pages when a live demo audience asks to see the full output beyond the cropped main walkthrough view.</a:t>
            </a:r>
          </a:p>
        </p:txBody>
      </p:sp>
      <p:sp>
        <p:nvSpPr>
          <p:cNvPr id="6" name="footer-rule-25">
            <a:extLst xmlns:a="http://schemas.openxmlformats.org/drawingml/2006/main">
              <a:ext uri="{FF2B5EF4-FFF2-40B4-BE49-F238E27FC236}">
                <a16:creationId xmlns:a16="http://schemas.microsoft.com/office/drawing/2014/main" id="{1C212976-4DA2-4A46-A8D3-8D09101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25">
            <a:extLst xmlns:a="http://schemas.openxmlformats.org/drawingml/2006/main">
              <a:ext uri="{FF2B5EF4-FFF2-40B4-BE49-F238E27FC236}">
                <a16:creationId xmlns:a16="http://schemas.microsoft.com/office/drawing/2014/main" id="{1464760B-5A3F-48BE-99EE-53896933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8" name="slide-number-25">
            <a:extLst xmlns:a="http://schemas.openxmlformats.org/drawingml/2006/main">
              <a:ext uri="{FF2B5EF4-FFF2-40B4-BE49-F238E27FC236}">
                <a16:creationId xmlns:a16="http://schemas.microsoft.com/office/drawing/2014/main" id="{D96033AE-1B6B-4EEB-B5A5-3C624E0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790976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26">
            <a:extLst xmlns:a="http://schemas.openxmlformats.org/drawingml/2006/main">
              <a:ext uri="{FF2B5EF4-FFF2-40B4-BE49-F238E27FC236}">
                <a16:creationId xmlns:a16="http://schemas.microsoft.com/office/drawing/2014/main" id="{502F7596-5134-4935-8FE4-8787C58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01: Login page</a:t>
            </a:r>
          </a:p>
        </p:txBody>
      </p:sp>
      <p:sp>
        <p:nvSpPr>
          <p:cNvPr id="2" name="raw-file-26">
            <a:extLst xmlns:a="http://schemas.openxmlformats.org/drawingml/2006/main">
              <a:ext uri="{FF2B5EF4-FFF2-40B4-BE49-F238E27FC236}">
                <a16:creationId xmlns:a16="http://schemas.microsoft.com/office/drawing/2014/main" id="{EF1FDB85-2350-4F95-8950-72EE8E41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raw-01-login.png</a:t>
            </a:r>
          </a:p>
        </p:txBody>
      </p:sp>
      <p:sp>
        <p:nvSpPr>
          <p:cNvPr id="3" name="raw-panel-26">
            <a:extLst xmlns:a="http://schemas.openxmlformats.org/drawingml/2006/main">
              <a:ext uri="{FF2B5EF4-FFF2-40B4-BE49-F238E27FC236}">
                <a16:creationId xmlns:a16="http://schemas.microsoft.com/office/drawing/2014/main" id="{23852D85-01EE-44AA-958E-233FC68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f729fb8f7418a"/>
          <a:stretch xmlns:a="http://schemas.openxmlformats.org/drawingml/2006/main"/>
        </p:blipFill>
        <p:spPr>
          <a:xfrm xmlns:a="http://schemas.openxmlformats.org/drawingml/2006/main">
            <a:off x="2546773" y="1028700"/>
            <a:ext cx="7098453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26">
            <a:extLst xmlns:a="http://schemas.openxmlformats.org/drawingml/2006/main">
              <a:ext uri="{FF2B5EF4-FFF2-40B4-BE49-F238E27FC236}">
                <a16:creationId xmlns:a16="http://schemas.microsoft.com/office/drawing/2014/main" id="{6D73321F-38CD-4C80-B7FB-07226BA1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6">
            <a:extLst xmlns:a="http://schemas.openxmlformats.org/drawingml/2006/main">
              <a:ext uri="{FF2B5EF4-FFF2-40B4-BE49-F238E27FC236}">
                <a16:creationId xmlns:a16="http://schemas.microsoft.com/office/drawing/2014/main" id="{046A2874-0638-4364-9ED8-831A390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26">
            <a:extLst xmlns:a="http://schemas.openxmlformats.org/drawingml/2006/main">
              <a:ext uri="{FF2B5EF4-FFF2-40B4-BE49-F238E27FC236}">
                <a16:creationId xmlns:a16="http://schemas.microsoft.com/office/drawing/2014/main" id="{ED590C53-21AE-4DC1-8B50-4842521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736270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27">
            <a:extLst xmlns:a="http://schemas.openxmlformats.org/drawingml/2006/main">
              <a:ext uri="{FF2B5EF4-FFF2-40B4-BE49-F238E27FC236}">
                <a16:creationId xmlns:a16="http://schemas.microsoft.com/office/drawing/2014/main" id="{87EFFC88-A6AF-452D-934C-9365DC85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02: Catalog filter and selected detail</a:t>
            </a:r>
          </a:p>
        </p:txBody>
      </p:sp>
      <p:sp>
        <p:nvSpPr>
          <p:cNvPr id="2" name="raw-file-27">
            <a:extLst xmlns:a="http://schemas.openxmlformats.org/drawingml/2006/main">
              <a:ext uri="{FF2B5EF4-FFF2-40B4-BE49-F238E27FC236}">
                <a16:creationId xmlns:a16="http://schemas.microsoft.com/office/drawing/2014/main" id="{3CE34B88-1D30-40C9-8AA9-910F7E0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raw-02-catalog-filter-detail.png</a:t>
            </a:r>
          </a:p>
        </p:txBody>
      </p:sp>
      <p:sp>
        <p:nvSpPr>
          <p:cNvPr id="3" name="raw-panel-27">
            <a:extLst xmlns:a="http://schemas.openxmlformats.org/drawingml/2006/main">
              <a:ext uri="{FF2B5EF4-FFF2-40B4-BE49-F238E27FC236}">
                <a16:creationId xmlns:a16="http://schemas.microsoft.com/office/drawing/2014/main" id="{04E8CD89-84DA-461E-882B-1829F52E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048f7bf814705"/>
          <a:stretch xmlns:a="http://schemas.openxmlformats.org/drawingml/2006/main"/>
        </p:blipFill>
        <p:spPr>
          <a:xfrm xmlns:a="http://schemas.openxmlformats.org/drawingml/2006/main">
            <a:off x="4718551" y="1028700"/>
            <a:ext cx="275489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27">
            <a:extLst xmlns:a="http://schemas.openxmlformats.org/drawingml/2006/main">
              <a:ext uri="{FF2B5EF4-FFF2-40B4-BE49-F238E27FC236}">
                <a16:creationId xmlns:a16="http://schemas.microsoft.com/office/drawing/2014/main" id="{EED820D2-96BD-4F76-8009-3FEBEF1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7">
            <a:extLst xmlns:a="http://schemas.openxmlformats.org/drawingml/2006/main">
              <a:ext uri="{FF2B5EF4-FFF2-40B4-BE49-F238E27FC236}">
                <a16:creationId xmlns:a16="http://schemas.microsoft.com/office/drawing/2014/main" id="{08F4903B-2716-4F1A-8563-C28AC0CE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27">
            <a:extLst xmlns:a="http://schemas.openxmlformats.org/drawingml/2006/main">
              <a:ext uri="{FF2B5EF4-FFF2-40B4-BE49-F238E27FC236}">
                <a16:creationId xmlns:a16="http://schemas.microsoft.com/office/drawing/2014/main" id="{80B3813E-1B0A-4780-964A-99A7321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866465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28">
            <a:extLst xmlns:a="http://schemas.openxmlformats.org/drawingml/2006/main">
              <a:ext uri="{FF2B5EF4-FFF2-40B4-BE49-F238E27FC236}">
                <a16:creationId xmlns:a16="http://schemas.microsoft.com/office/drawing/2014/main" id="{883F8752-9703-4BF0-8675-0E06333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03: Record detail full page</a:t>
            </a:r>
          </a:p>
        </p:txBody>
      </p:sp>
      <p:sp>
        <p:nvSpPr>
          <p:cNvPr id="2" name="raw-file-28">
            <a:extLst xmlns:a="http://schemas.openxmlformats.org/drawingml/2006/main">
              <a:ext uri="{FF2B5EF4-FFF2-40B4-BE49-F238E27FC236}">
                <a16:creationId xmlns:a16="http://schemas.microsoft.com/office/drawing/2014/main" id="{7C747C3D-0E41-4022-B8CF-557856C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raw-03-record-detail-full.png</a:t>
            </a:r>
          </a:p>
        </p:txBody>
      </p:sp>
      <p:sp>
        <p:nvSpPr>
          <p:cNvPr id="3" name="raw-panel-28">
            <a:extLst xmlns:a="http://schemas.openxmlformats.org/drawingml/2006/main">
              <a:ext uri="{FF2B5EF4-FFF2-40B4-BE49-F238E27FC236}">
                <a16:creationId xmlns:a16="http://schemas.microsoft.com/office/drawing/2014/main" id="{4CA358B4-CD00-4DCE-94C5-73BB4398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b563c13074637"/>
          <a:stretch xmlns:a="http://schemas.openxmlformats.org/drawingml/2006/main"/>
        </p:blipFill>
        <p:spPr>
          <a:xfrm xmlns:a="http://schemas.openxmlformats.org/drawingml/2006/main">
            <a:off x="4718551" y="1028700"/>
            <a:ext cx="275489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28">
            <a:extLst xmlns:a="http://schemas.openxmlformats.org/drawingml/2006/main">
              <a:ext uri="{FF2B5EF4-FFF2-40B4-BE49-F238E27FC236}">
                <a16:creationId xmlns:a16="http://schemas.microsoft.com/office/drawing/2014/main" id="{53BB3975-F67F-4281-B199-098F5E5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8">
            <a:extLst xmlns:a="http://schemas.openxmlformats.org/drawingml/2006/main">
              <a:ext uri="{FF2B5EF4-FFF2-40B4-BE49-F238E27FC236}">
                <a16:creationId xmlns:a16="http://schemas.microsoft.com/office/drawing/2014/main" id="{2B65D47C-B8D6-4BE1-9C0E-3CABE18B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28">
            <a:extLst xmlns:a="http://schemas.openxmlformats.org/drawingml/2006/main">
              <a:ext uri="{FF2B5EF4-FFF2-40B4-BE49-F238E27FC236}">
                <a16:creationId xmlns:a16="http://schemas.microsoft.com/office/drawing/2014/main" id="{2942A7AD-7937-4583-8CF5-8A4422FD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991720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29">
            <a:extLst xmlns:a="http://schemas.openxmlformats.org/drawingml/2006/main">
              <a:ext uri="{FF2B5EF4-FFF2-40B4-BE49-F238E27FC236}">
                <a16:creationId xmlns:a16="http://schemas.microsoft.com/office/drawing/2014/main" id="{7983FF56-D4CF-4E45-8DF5-2752C35A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04: Record edit form</a:t>
            </a:r>
          </a:p>
        </p:txBody>
      </p:sp>
      <p:sp>
        <p:nvSpPr>
          <p:cNvPr id="2" name="raw-file-29">
            <a:extLst xmlns:a="http://schemas.openxmlformats.org/drawingml/2006/main">
              <a:ext uri="{FF2B5EF4-FFF2-40B4-BE49-F238E27FC236}">
                <a16:creationId xmlns:a16="http://schemas.microsoft.com/office/drawing/2014/main" id="{286BF7B5-8CD9-4FFB-9726-A1EF75C8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raw-04-record-edit.png</a:t>
            </a:r>
          </a:p>
        </p:txBody>
      </p:sp>
      <p:sp>
        <p:nvSpPr>
          <p:cNvPr id="3" name="raw-panel-29">
            <a:extLst xmlns:a="http://schemas.openxmlformats.org/drawingml/2006/main">
              <a:ext uri="{FF2B5EF4-FFF2-40B4-BE49-F238E27FC236}">
                <a16:creationId xmlns:a16="http://schemas.microsoft.com/office/drawing/2014/main" id="{E9788778-736E-408B-9032-6D2682FA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631e9c83747a2"/>
          <a:stretch xmlns:a="http://schemas.openxmlformats.org/drawingml/2006/main"/>
        </p:blipFill>
        <p:spPr>
          <a:xfrm xmlns:a="http://schemas.openxmlformats.org/drawingml/2006/main">
            <a:off x="4328261" y="1028700"/>
            <a:ext cx="353547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29">
            <a:extLst xmlns:a="http://schemas.openxmlformats.org/drawingml/2006/main">
              <a:ext uri="{FF2B5EF4-FFF2-40B4-BE49-F238E27FC236}">
                <a16:creationId xmlns:a16="http://schemas.microsoft.com/office/drawing/2014/main" id="{B6DEC945-7292-4796-9991-D4FD885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9">
            <a:extLst xmlns:a="http://schemas.openxmlformats.org/drawingml/2006/main">
              <a:ext uri="{FF2B5EF4-FFF2-40B4-BE49-F238E27FC236}">
                <a16:creationId xmlns:a16="http://schemas.microsoft.com/office/drawing/2014/main" id="{8EE9D949-754B-444A-88C7-6B44F24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29">
            <a:extLst xmlns:a="http://schemas.openxmlformats.org/drawingml/2006/main">
              <a:ext uri="{FF2B5EF4-FFF2-40B4-BE49-F238E27FC236}">
                <a16:creationId xmlns:a16="http://schemas.microsoft.com/office/drawing/2014/main" id="{E59DBF22-DBCF-4D89-BC6B-54E4D98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619455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0">
            <a:extLst xmlns:a="http://schemas.openxmlformats.org/drawingml/2006/main">
              <a:ext uri="{FF2B5EF4-FFF2-40B4-BE49-F238E27FC236}">
                <a16:creationId xmlns:a16="http://schemas.microsoft.com/office/drawing/2014/main" id="{7C59E184-6B6A-463B-ACBF-7FCE2228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05: Authorities and taxonomy</a:t>
            </a:r>
          </a:p>
        </p:txBody>
      </p:sp>
      <p:sp>
        <p:nvSpPr>
          <p:cNvPr id="2" name="raw-file-30">
            <a:extLst xmlns:a="http://schemas.openxmlformats.org/drawingml/2006/main">
              <a:ext uri="{FF2B5EF4-FFF2-40B4-BE49-F238E27FC236}">
                <a16:creationId xmlns:a16="http://schemas.microsoft.com/office/drawing/2014/main" id="{CB9AD397-D2DF-4B94-9239-26B285C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raw-05-authorities-taxonomy.png</a:t>
            </a:r>
          </a:p>
        </p:txBody>
      </p:sp>
      <p:sp>
        <p:nvSpPr>
          <p:cNvPr id="3" name="raw-panel-30">
            <a:extLst xmlns:a="http://schemas.openxmlformats.org/drawingml/2006/main">
              <a:ext uri="{FF2B5EF4-FFF2-40B4-BE49-F238E27FC236}">
                <a16:creationId xmlns:a16="http://schemas.microsoft.com/office/drawing/2014/main" id="{6988D843-5E8A-4A93-B771-08FD1F29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0076bc0a54136"/>
          <a:stretch xmlns:a="http://schemas.openxmlformats.org/drawingml/2006/main"/>
        </p:blipFill>
        <p:spPr>
          <a:xfrm xmlns:a="http://schemas.openxmlformats.org/drawingml/2006/main">
            <a:off x="4976762" y="1028700"/>
            <a:ext cx="2238475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0">
            <a:extLst xmlns:a="http://schemas.openxmlformats.org/drawingml/2006/main">
              <a:ext uri="{FF2B5EF4-FFF2-40B4-BE49-F238E27FC236}">
                <a16:creationId xmlns:a16="http://schemas.microsoft.com/office/drawing/2014/main" id="{466A264A-C508-42B0-B62B-F03BC37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0">
            <a:extLst xmlns:a="http://schemas.openxmlformats.org/drawingml/2006/main">
              <a:ext uri="{FF2B5EF4-FFF2-40B4-BE49-F238E27FC236}">
                <a16:creationId xmlns:a16="http://schemas.microsoft.com/office/drawing/2014/main" id="{78A4AC51-856E-4571-A6DF-3F76DE6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0">
            <a:extLst xmlns:a="http://schemas.openxmlformats.org/drawingml/2006/main">
              <a:ext uri="{FF2B5EF4-FFF2-40B4-BE49-F238E27FC236}">
                <a16:creationId xmlns:a16="http://schemas.microsoft.com/office/drawing/2014/main" id="{4CA2C181-94A3-48AC-94CB-5AC4180A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302258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1">
            <a:extLst xmlns:a="http://schemas.openxmlformats.org/drawingml/2006/main">
              <a:ext uri="{FF2B5EF4-FFF2-40B4-BE49-F238E27FC236}">
                <a16:creationId xmlns:a16="http://schemas.microsoft.com/office/drawing/2014/main" id="{50ED695F-7B6C-425C-BAAB-DF92A2B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06: Storage admin</a:t>
            </a:r>
          </a:p>
        </p:txBody>
      </p:sp>
      <p:sp>
        <p:nvSpPr>
          <p:cNvPr id="2" name="raw-file-31">
            <a:extLst xmlns:a="http://schemas.openxmlformats.org/drawingml/2006/main">
              <a:ext uri="{FF2B5EF4-FFF2-40B4-BE49-F238E27FC236}">
                <a16:creationId xmlns:a16="http://schemas.microsoft.com/office/drawing/2014/main" id="{A67C6E48-DE22-42DD-87D0-6A622EC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raw-06-storage-admin.png</a:t>
            </a:r>
          </a:p>
        </p:txBody>
      </p:sp>
      <p:sp>
        <p:nvSpPr>
          <p:cNvPr id="3" name="raw-panel-31">
            <a:extLst xmlns:a="http://schemas.openxmlformats.org/drawingml/2006/main">
              <a:ext uri="{FF2B5EF4-FFF2-40B4-BE49-F238E27FC236}">
                <a16:creationId xmlns:a16="http://schemas.microsoft.com/office/drawing/2014/main" id="{F4853E19-421D-4E62-B1DB-0934297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a6d96f2cc4c15"/>
          <a:stretch xmlns:a="http://schemas.openxmlformats.org/drawingml/2006/main"/>
        </p:blipFill>
        <p:spPr>
          <a:xfrm xmlns:a="http://schemas.openxmlformats.org/drawingml/2006/main">
            <a:off x="5096843" y="1028700"/>
            <a:ext cx="1998313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1">
            <a:extLst xmlns:a="http://schemas.openxmlformats.org/drawingml/2006/main">
              <a:ext uri="{FF2B5EF4-FFF2-40B4-BE49-F238E27FC236}">
                <a16:creationId xmlns:a16="http://schemas.microsoft.com/office/drawing/2014/main" id="{D85C6D14-7CEF-4A1A-BDC6-9481841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1">
            <a:extLst xmlns:a="http://schemas.openxmlformats.org/drawingml/2006/main">
              <a:ext uri="{FF2B5EF4-FFF2-40B4-BE49-F238E27FC236}">
                <a16:creationId xmlns:a16="http://schemas.microsoft.com/office/drawing/2014/main" id="{A7D111D8-71FE-4A01-BE9B-3EE9D97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1">
            <a:extLst xmlns:a="http://schemas.openxmlformats.org/drawingml/2006/main">
              <a:ext uri="{FF2B5EF4-FFF2-40B4-BE49-F238E27FC236}">
                <a16:creationId xmlns:a16="http://schemas.microsoft.com/office/drawing/2014/main" id="{E421986A-89D6-4B62-B9E2-21C26A48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969808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2">
            <a:extLst xmlns:a="http://schemas.openxmlformats.org/drawingml/2006/main">
              <a:ext uri="{FF2B5EF4-FFF2-40B4-BE49-F238E27FC236}">
                <a16:creationId xmlns:a16="http://schemas.microsoft.com/office/drawing/2014/main" id="{7F81384E-09BD-45E1-97CC-0E6B6A1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07: Digital media detail</a:t>
            </a:r>
          </a:p>
        </p:txBody>
      </p:sp>
      <p:sp>
        <p:nvSpPr>
          <p:cNvPr id="2" name="raw-file-32">
            <a:extLst xmlns:a="http://schemas.openxmlformats.org/drawingml/2006/main">
              <a:ext uri="{FF2B5EF4-FFF2-40B4-BE49-F238E27FC236}">
                <a16:creationId xmlns:a16="http://schemas.microsoft.com/office/drawing/2014/main" id="{86CAFD2A-2199-4EDF-883B-4A0FD4BA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raw-07-digital-media.png</a:t>
            </a:r>
          </a:p>
        </p:txBody>
      </p:sp>
      <p:sp>
        <p:nvSpPr>
          <p:cNvPr id="3" name="raw-panel-32">
            <a:extLst xmlns:a="http://schemas.openxmlformats.org/drawingml/2006/main">
              <a:ext uri="{FF2B5EF4-FFF2-40B4-BE49-F238E27FC236}">
                <a16:creationId xmlns:a16="http://schemas.microsoft.com/office/drawing/2014/main" id="{D47CFB25-9F1A-4008-A920-D935663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1750791fd49d3"/>
          <a:stretch xmlns:a="http://schemas.openxmlformats.org/drawingml/2006/main"/>
        </p:blipFill>
        <p:spPr>
          <a:xfrm xmlns:a="http://schemas.openxmlformats.org/drawingml/2006/main">
            <a:off x="4718551" y="1028700"/>
            <a:ext cx="275489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2">
            <a:extLst xmlns:a="http://schemas.openxmlformats.org/drawingml/2006/main">
              <a:ext uri="{FF2B5EF4-FFF2-40B4-BE49-F238E27FC236}">
                <a16:creationId xmlns:a16="http://schemas.microsoft.com/office/drawing/2014/main" id="{4876E41A-ECA2-426B-9727-341F892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2">
            <a:extLst xmlns:a="http://schemas.openxmlformats.org/drawingml/2006/main">
              <a:ext uri="{FF2B5EF4-FFF2-40B4-BE49-F238E27FC236}">
                <a16:creationId xmlns:a16="http://schemas.microsoft.com/office/drawing/2014/main" id="{1EFDBFBD-2CCD-4A8D-BFB6-5F41D3B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2">
            <a:extLst xmlns:a="http://schemas.openxmlformats.org/drawingml/2006/main">
              <a:ext uri="{FF2B5EF4-FFF2-40B4-BE49-F238E27FC236}">
                <a16:creationId xmlns:a16="http://schemas.microsoft.com/office/drawing/2014/main" id="{F168951D-7E17-483A-8FD1-5D834618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462818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3">
            <a:extLst xmlns:a="http://schemas.openxmlformats.org/drawingml/2006/main">
              <a:ext uri="{FF2B5EF4-FFF2-40B4-BE49-F238E27FC236}">
                <a16:creationId xmlns:a16="http://schemas.microsoft.com/office/drawing/2014/main" id="{BE4EBA7E-2871-4552-8FF7-1C08DC4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08: AI intake upload review</a:t>
            </a:r>
          </a:p>
        </p:txBody>
      </p:sp>
      <p:sp>
        <p:nvSpPr>
          <p:cNvPr id="2" name="raw-file-33">
            <a:extLst xmlns:a="http://schemas.openxmlformats.org/drawingml/2006/main">
              <a:ext uri="{FF2B5EF4-FFF2-40B4-BE49-F238E27FC236}">
                <a16:creationId xmlns:a16="http://schemas.microsoft.com/office/drawing/2014/main" id="{08E08089-ED02-4017-B0C1-A6229E5C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raw-08-ai-upload-return.png</a:t>
            </a:r>
          </a:p>
        </p:txBody>
      </p:sp>
      <p:sp>
        <p:nvSpPr>
          <p:cNvPr id="3" name="raw-panel-33">
            <a:extLst xmlns:a="http://schemas.openxmlformats.org/drawingml/2006/main">
              <a:ext uri="{FF2B5EF4-FFF2-40B4-BE49-F238E27FC236}">
                <a16:creationId xmlns:a16="http://schemas.microsoft.com/office/drawing/2014/main" id="{877F454B-FB71-441D-A4FC-BA67C0D9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5a0cfda6248f7"/>
          <a:stretch xmlns:a="http://schemas.openxmlformats.org/drawingml/2006/main"/>
        </p:blipFill>
        <p:spPr>
          <a:xfrm xmlns:a="http://schemas.openxmlformats.org/drawingml/2006/main">
            <a:off x="5748906" y="1028700"/>
            <a:ext cx="69418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3">
            <a:extLst xmlns:a="http://schemas.openxmlformats.org/drawingml/2006/main">
              <a:ext uri="{FF2B5EF4-FFF2-40B4-BE49-F238E27FC236}">
                <a16:creationId xmlns:a16="http://schemas.microsoft.com/office/drawing/2014/main" id="{42A60DF9-B800-4293-8B5E-A0B7D76F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3">
            <a:extLst xmlns:a="http://schemas.openxmlformats.org/drawingml/2006/main">
              <a:ext uri="{FF2B5EF4-FFF2-40B4-BE49-F238E27FC236}">
                <a16:creationId xmlns:a16="http://schemas.microsoft.com/office/drawing/2014/main" id="{FBC971A8-F8CC-4F7C-8090-B5A760B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3">
            <a:extLst xmlns:a="http://schemas.openxmlformats.org/drawingml/2006/main">
              <a:ext uri="{FF2B5EF4-FFF2-40B4-BE49-F238E27FC236}">
                <a16:creationId xmlns:a16="http://schemas.microsoft.com/office/drawing/2014/main" id="{ABA27E10-26F0-4858-A611-B63C6578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863045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4">
            <a:extLst xmlns:a="http://schemas.openxmlformats.org/drawingml/2006/main">
              <a:ext uri="{FF2B5EF4-FFF2-40B4-BE49-F238E27FC236}">
                <a16:creationId xmlns:a16="http://schemas.microsoft.com/office/drawing/2014/main" id="{1B7B3F80-D3C7-4583-97FA-50AC138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09: AI intake save draft</a:t>
            </a:r>
          </a:p>
        </p:txBody>
      </p:sp>
      <p:sp>
        <p:nvSpPr>
          <p:cNvPr id="2" name="raw-file-34">
            <a:extLst xmlns:a="http://schemas.openxmlformats.org/drawingml/2006/main">
              <a:ext uri="{FF2B5EF4-FFF2-40B4-BE49-F238E27FC236}">
                <a16:creationId xmlns:a16="http://schemas.microsoft.com/office/drawing/2014/main" id="{30EEF5DF-1E63-44F1-ACEA-72289F2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raw-09-ai-save-draft-return.png</a:t>
            </a:r>
          </a:p>
        </p:txBody>
      </p:sp>
      <p:sp>
        <p:nvSpPr>
          <p:cNvPr id="3" name="raw-panel-34">
            <a:extLst xmlns:a="http://schemas.openxmlformats.org/drawingml/2006/main">
              <a:ext uri="{FF2B5EF4-FFF2-40B4-BE49-F238E27FC236}">
                <a16:creationId xmlns:a16="http://schemas.microsoft.com/office/drawing/2014/main" id="{DA583EAD-6AB6-4131-8D45-4CC3C27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f1f3e8c64ab6"/>
          <a:stretch xmlns:a="http://schemas.openxmlformats.org/drawingml/2006/main"/>
        </p:blipFill>
        <p:spPr>
          <a:xfrm xmlns:a="http://schemas.openxmlformats.org/drawingml/2006/main">
            <a:off x="5748755" y="1028700"/>
            <a:ext cx="694489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4">
            <a:extLst xmlns:a="http://schemas.openxmlformats.org/drawingml/2006/main">
              <a:ext uri="{FF2B5EF4-FFF2-40B4-BE49-F238E27FC236}">
                <a16:creationId xmlns:a16="http://schemas.microsoft.com/office/drawing/2014/main" id="{E03AF320-1CC6-4944-924B-87E8AC6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4">
            <a:extLst xmlns:a="http://schemas.openxmlformats.org/drawingml/2006/main">
              <a:ext uri="{FF2B5EF4-FFF2-40B4-BE49-F238E27FC236}">
                <a16:creationId xmlns:a16="http://schemas.microsoft.com/office/drawing/2014/main" id="{FF450BF8-FD0D-4D22-98EA-EA5ED162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4">
            <a:extLst xmlns:a="http://schemas.openxmlformats.org/drawingml/2006/main">
              <a:ext uri="{FF2B5EF4-FFF2-40B4-BE49-F238E27FC236}">
                <a16:creationId xmlns:a16="http://schemas.microsoft.com/office/drawing/2014/main" id="{D1A225AA-6E29-47F6-9E38-FCC28B7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988223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5">
            <a:extLst xmlns:a="http://schemas.openxmlformats.org/drawingml/2006/main">
              <a:ext uri="{FF2B5EF4-FFF2-40B4-BE49-F238E27FC236}">
                <a16:creationId xmlns:a16="http://schemas.microsoft.com/office/drawing/2014/main" id="{2A446FF6-C874-4C59-AED9-C0E9AAE4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10: AI intake submit</a:t>
            </a:r>
          </a:p>
        </p:txBody>
      </p:sp>
      <p:sp>
        <p:nvSpPr>
          <p:cNvPr id="2" name="raw-file-35">
            <a:extLst xmlns:a="http://schemas.openxmlformats.org/drawingml/2006/main">
              <a:ext uri="{FF2B5EF4-FFF2-40B4-BE49-F238E27FC236}">
                <a16:creationId xmlns:a16="http://schemas.microsoft.com/office/drawing/2014/main" id="{CF125C7A-1E63-4AE7-AE21-E22BE4DF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raw-10-ai-submit-return.png</a:t>
            </a:r>
          </a:p>
        </p:txBody>
      </p:sp>
      <p:sp>
        <p:nvSpPr>
          <p:cNvPr id="3" name="raw-panel-35">
            <a:extLst xmlns:a="http://schemas.openxmlformats.org/drawingml/2006/main">
              <a:ext uri="{FF2B5EF4-FFF2-40B4-BE49-F238E27FC236}">
                <a16:creationId xmlns:a16="http://schemas.microsoft.com/office/drawing/2014/main" id="{217AE240-805C-4112-B887-B3D6E3F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a2ba5b6c548c8"/>
          <a:stretch xmlns:a="http://schemas.openxmlformats.org/drawingml/2006/main"/>
        </p:blipFill>
        <p:spPr>
          <a:xfrm xmlns:a="http://schemas.openxmlformats.org/drawingml/2006/main">
            <a:off x="5747125" y="1028700"/>
            <a:ext cx="697751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5">
            <a:extLst xmlns:a="http://schemas.openxmlformats.org/drawingml/2006/main">
              <a:ext uri="{FF2B5EF4-FFF2-40B4-BE49-F238E27FC236}">
                <a16:creationId xmlns:a16="http://schemas.microsoft.com/office/drawing/2014/main" id="{9E14A9BF-12CA-44F2-A6B9-3F38AEE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5">
            <a:extLst xmlns:a="http://schemas.openxmlformats.org/drawingml/2006/main">
              <a:ext uri="{FF2B5EF4-FFF2-40B4-BE49-F238E27FC236}">
                <a16:creationId xmlns:a16="http://schemas.microsoft.com/office/drawing/2014/main" id="{0E2F4898-A8CF-4004-B0CA-3F10B717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5">
            <a:extLst xmlns:a="http://schemas.openxmlformats.org/drawingml/2006/main">
              <a:ext uri="{FF2B5EF4-FFF2-40B4-BE49-F238E27FC236}">
                <a16:creationId xmlns:a16="http://schemas.microsoft.com/office/drawing/2014/main" id="{F7265121-E8B0-430A-832C-0F2F49FD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5879782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6">
            <a:extLst xmlns:a="http://schemas.openxmlformats.org/drawingml/2006/main">
              <a:ext uri="{FF2B5EF4-FFF2-40B4-BE49-F238E27FC236}">
                <a16:creationId xmlns:a16="http://schemas.microsoft.com/office/drawing/2014/main" id="{9A80B318-125E-4D93-8F93-A6350350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11: AI-created catalog result</a:t>
            </a:r>
          </a:p>
        </p:txBody>
      </p:sp>
      <p:sp>
        <p:nvSpPr>
          <p:cNvPr id="2" name="raw-file-36">
            <a:extLst xmlns:a="http://schemas.openxmlformats.org/drawingml/2006/main">
              <a:ext uri="{FF2B5EF4-FFF2-40B4-BE49-F238E27FC236}">
                <a16:creationId xmlns:a16="http://schemas.microsoft.com/office/drawing/2014/main" id="{D18BC720-D9CA-4F12-B37F-F90901F7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raw-11-ai-catalog-result.png</a:t>
            </a:r>
          </a:p>
        </p:txBody>
      </p:sp>
      <p:sp>
        <p:nvSpPr>
          <p:cNvPr id="3" name="raw-panel-36">
            <a:extLst xmlns:a="http://schemas.openxmlformats.org/drawingml/2006/main">
              <a:ext uri="{FF2B5EF4-FFF2-40B4-BE49-F238E27FC236}">
                <a16:creationId xmlns:a16="http://schemas.microsoft.com/office/drawing/2014/main" id="{6422C9B1-7FFF-4D9E-A8AF-14BDDA4E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7afd1cf794293"/>
          <a:stretch xmlns:a="http://schemas.openxmlformats.org/drawingml/2006/main"/>
        </p:blipFill>
        <p:spPr>
          <a:xfrm xmlns:a="http://schemas.openxmlformats.org/drawingml/2006/main">
            <a:off x="4614067" y="1028700"/>
            <a:ext cx="2963867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6">
            <a:extLst xmlns:a="http://schemas.openxmlformats.org/drawingml/2006/main">
              <a:ext uri="{FF2B5EF4-FFF2-40B4-BE49-F238E27FC236}">
                <a16:creationId xmlns:a16="http://schemas.microsoft.com/office/drawing/2014/main" id="{0240FD74-2622-4080-9301-A84587D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6">
            <a:extLst xmlns:a="http://schemas.openxmlformats.org/drawingml/2006/main">
              <a:ext uri="{FF2B5EF4-FFF2-40B4-BE49-F238E27FC236}">
                <a16:creationId xmlns:a16="http://schemas.microsoft.com/office/drawing/2014/main" id="{7968591C-DA1E-4A14-8D73-8ECCE6D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6">
            <a:extLst xmlns:a="http://schemas.openxmlformats.org/drawingml/2006/main">
              <a:ext uri="{FF2B5EF4-FFF2-40B4-BE49-F238E27FC236}">
                <a16:creationId xmlns:a16="http://schemas.microsoft.com/office/drawing/2014/main" id="{696137FD-10C3-4C37-8A8F-BC82A135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6373194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7">
            <a:extLst xmlns:a="http://schemas.openxmlformats.org/drawingml/2006/main">
              <a:ext uri="{FF2B5EF4-FFF2-40B4-BE49-F238E27FC236}">
                <a16:creationId xmlns:a16="http://schemas.microsoft.com/office/drawing/2014/main" id="{A5A92851-A0E4-4B11-9D77-BA2A59F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12: Backup and audit</a:t>
            </a:r>
          </a:p>
        </p:txBody>
      </p:sp>
      <p:sp>
        <p:nvSpPr>
          <p:cNvPr id="2" name="raw-file-37">
            <a:extLst xmlns:a="http://schemas.openxmlformats.org/drawingml/2006/main">
              <a:ext uri="{FF2B5EF4-FFF2-40B4-BE49-F238E27FC236}">
                <a16:creationId xmlns:a16="http://schemas.microsoft.com/office/drawing/2014/main" id="{7198318C-A3CA-4382-84D6-0C717B4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raw-12-backup-audit.png</a:t>
            </a:r>
          </a:p>
        </p:txBody>
      </p:sp>
      <p:sp>
        <p:nvSpPr>
          <p:cNvPr id="3" name="raw-panel-37">
            <a:extLst xmlns:a="http://schemas.openxmlformats.org/drawingml/2006/main">
              <a:ext uri="{FF2B5EF4-FFF2-40B4-BE49-F238E27FC236}">
                <a16:creationId xmlns:a16="http://schemas.microsoft.com/office/drawing/2014/main" id="{943E084B-E0F7-48D6-8455-7EEED059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1e1ec6d144916"/>
          <a:stretch xmlns:a="http://schemas.openxmlformats.org/drawingml/2006/main"/>
        </p:blipFill>
        <p:spPr>
          <a:xfrm xmlns:a="http://schemas.openxmlformats.org/drawingml/2006/main">
            <a:off x="5748906" y="1028700"/>
            <a:ext cx="694188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7">
            <a:extLst xmlns:a="http://schemas.openxmlformats.org/drawingml/2006/main">
              <a:ext uri="{FF2B5EF4-FFF2-40B4-BE49-F238E27FC236}">
                <a16:creationId xmlns:a16="http://schemas.microsoft.com/office/drawing/2014/main" id="{C14CD48C-F2F9-42BE-8CD7-4F5FC5F5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7">
            <a:extLst xmlns:a="http://schemas.openxmlformats.org/drawingml/2006/main">
              <a:ext uri="{FF2B5EF4-FFF2-40B4-BE49-F238E27FC236}">
                <a16:creationId xmlns:a16="http://schemas.microsoft.com/office/drawing/2014/main" id="{49528721-9663-4F3A-B926-EE40FFC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7">
            <a:extLst xmlns:a="http://schemas.openxmlformats.org/drawingml/2006/main">
              <a:ext uri="{FF2B5EF4-FFF2-40B4-BE49-F238E27FC236}">
                <a16:creationId xmlns:a16="http://schemas.microsoft.com/office/drawing/2014/main" id="{47352518-8D35-404D-A56D-7600FF04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064993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8">
            <a:extLst xmlns:a="http://schemas.openxmlformats.org/drawingml/2006/main">
              <a:ext uri="{FF2B5EF4-FFF2-40B4-BE49-F238E27FC236}">
                <a16:creationId xmlns:a16="http://schemas.microsoft.com/office/drawing/2014/main" id="{1AE71557-68F0-4929-A034-4E05206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13: Viewer detail boundary</a:t>
            </a:r>
          </a:p>
        </p:txBody>
      </p:sp>
      <p:sp>
        <p:nvSpPr>
          <p:cNvPr id="2" name="raw-file-38">
            <a:extLst xmlns:a="http://schemas.openxmlformats.org/drawingml/2006/main">
              <a:ext uri="{FF2B5EF4-FFF2-40B4-BE49-F238E27FC236}">
                <a16:creationId xmlns:a16="http://schemas.microsoft.com/office/drawing/2014/main" id="{13A67AF3-A1DE-42CE-84DF-74AC491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raw-13-viewer-detail.png</a:t>
            </a:r>
          </a:p>
        </p:txBody>
      </p:sp>
      <p:sp>
        <p:nvSpPr>
          <p:cNvPr id="3" name="raw-panel-38">
            <a:extLst xmlns:a="http://schemas.openxmlformats.org/drawingml/2006/main">
              <a:ext uri="{FF2B5EF4-FFF2-40B4-BE49-F238E27FC236}">
                <a16:creationId xmlns:a16="http://schemas.microsoft.com/office/drawing/2014/main" id="{71CF8C9C-2323-41B0-B7D0-D05B41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257742c3d4e40"/>
          <a:stretch xmlns:a="http://schemas.openxmlformats.org/drawingml/2006/main"/>
        </p:blipFill>
        <p:spPr>
          <a:xfrm xmlns:a="http://schemas.openxmlformats.org/drawingml/2006/main">
            <a:off x="2551436" y="1028700"/>
            <a:ext cx="7089129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8">
            <a:extLst xmlns:a="http://schemas.openxmlformats.org/drawingml/2006/main">
              <a:ext uri="{FF2B5EF4-FFF2-40B4-BE49-F238E27FC236}">
                <a16:creationId xmlns:a16="http://schemas.microsoft.com/office/drawing/2014/main" id="{169013F7-D547-45EF-8EA7-5C53B726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8">
            <a:extLst xmlns:a="http://schemas.openxmlformats.org/drawingml/2006/main">
              <a:ext uri="{FF2B5EF4-FFF2-40B4-BE49-F238E27FC236}">
                <a16:creationId xmlns:a16="http://schemas.microsoft.com/office/drawing/2014/main" id="{A62AF80E-713D-44AA-ADA3-BD87CA4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8">
            <a:extLst xmlns:a="http://schemas.openxmlformats.org/drawingml/2006/main">
              <a:ext uri="{FF2B5EF4-FFF2-40B4-BE49-F238E27FC236}">
                <a16:creationId xmlns:a16="http://schemas.microsoft.com/office/drawing/2014/main" id="{3D178B51-4C24-41C5-B2C3-C8ABC5F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0731044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aw-title-39">
            <a:extLst xmlns:a="http://schemas.openxmlformats.org/drawingml/2006/main">
              <a:ext uri="{FF2B5EF4-FFF2-40B4-BE49-F238E27FC236}">
                <a16:creationId xmlns:a16="http://schemas.microsoft.com/office/drawing/2014/main" id="{5BF3F58E-249D-4801-85A5-A150B19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14: Viewer admin blocked</a:t>
            </a:r>
          </a:p>
        </p:txBody>
      </p:sp>
      <p:sp>
        <p:nvSpPr>
          <p:cNvPr id="2" name="raw-file-39">
            <a:extLst xmlns:a="http://schemas.openxmlformats.org/drawingml/2006/main">
              <a:ext uri="{FF2B5EF4-FFF2-40B4-BE49-F238E27FC236}">
                <a16:creationId xmlns:a16="http://schemas.microsoft.com/office/drawing/2014/main" id="{A164517B-6C07-47A0-A072-620E21CB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raw-14-viewer-admin-blocked.png</a:t>
            </a:r>
          </a:p>
        </p:txBody>
      </p:sp>
      <p:sp>
        <p:nvSpPr>
          <p:cNvPr id="3" name="raw-panel-39">
            <a:extLst xmlns:a="http://schemas.openxmlformats.org/drawingml/2006/main">
              <a:ext uri="{FF2B5EF4-FFF2-40B4-BE49-F238E27FC236}">
                <a16:creationId xmlns:a16="http://schemas.microsoft.com/office/drawing/2014/main" id="{67CAE711-3BE2-4E4F-B603-9C3FA189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12f3158e74c69"/>
          <a:stretch xmlns:a="http://schemas.openxmlformats.org/drawingml/2006/main"/>
        </p:blipFill>
        <p:spPr>
          <a:xfrm xmlns:a="http://schemas.openxmlformats.org/drawingml/2006/main">
            <a:off x="2551436" y="1028700"/>
            <a:ext cx="7089129" cy="4991100"/>
          </a:xfrm>
          <a:prstGeom xmlns:a="http://schemas.openxmlformats.org/drawingml/2006/main" prst="rect">
            <a:avLst/>
          </a:prstGeom>
        </p:spPr>
      </p:pic>
      <p:sp>
        <p:nvSpPr>
          <p:cNvPr id="5" name="footer-rule-39">
            <a:extLst xmlns:a="http://schemas.openxmlformats.org/drawingml/2006/main">
              <a:ext uri="{FF2B5EF4-FFF2-40B4-BE49-F238E27FC236}">
                <a16:creationId xmlns:a16="http://schemas.microsoft.com/office/drawing/2014/main" id="{1FBFCC2C-E42D-4F0E-9DDE-D3AF2445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9">
            <a:extLst xmlns:a="http://schemas.openxmlformats.org/drawingml/2006/main">
              <a:ext uri="{FF2B5EF4-FFF2-40B4-BE49-F238E27FC236}">
                <a16:creationId xmlns:a16="http://schemas.microsoft.com/office/drawing/2014/main" id="{12BE3EC8-8051-410D-AF85-0115B34E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Archive Collection System demo walkthrough</a:t>
            </a:r>
          </a:p>
        </p:txBody>
      </p:sp>
      <p:sp>
        <p:nvSpPr>
          <p:cNvPr id="7" name="slide-number-39">
            <a:extLst xmlns:a="http://schemas.openxmlformats.org/drawingml/2006/main">
              <a:ext uri="{FF2B5EF4-FFF2-40B4-BE49-F238E27FC236}">
                <a16:creationId xmlns:a16="http://schemas.microsoft.com/office/drawing/2014/main" id="{501DDC1B-586F-4B15-A535-760F536D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1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670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2026-08-23T17:31:13.6840000Z</dcterms:created>
  <dcterms:modified xsi:type="dcterms:W3CDTF">2026-08-23T17:31:13.6840000Z</dcterms:modified>
</coreProperties>
</file>